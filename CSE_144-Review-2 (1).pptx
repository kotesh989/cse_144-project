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5" r:id="rId7"/>
    <p:sldId id="287" r:id="rId8"/>
    <p:sldId id="273" r:id="rId9"/>
    <p:sldId id="272" r:id="rId10"/>
    <p:sldId id="271" r:id="rId11"/>
    <p:sldId id="288" r:id="rId12"/>
    <p:sldId id="268" r:id="rId13"/>
    <p:sldId id="274" r:id="rId14"/>
    <p:sldId id="270" r:id="rId15"/>
    <p:sldId id="265"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9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635194" y="446590"/>
            <a:ext cx="10363200" cy="127359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GB" sz="2400" dirty="0">
                <a:solidFill>
                  <a:schemeClr val="tx1"/>
                </a:solidFill>
                <a:latin typeface="Cambria" panose="02040503050406030204" pitchFamily="18" charset="0"/>
                <a:ea typeface="Cambria" panose="02040503050406030204" pitchFamily="18" charset="0"/>
              </a:rPr>
              <a:t>PROJECT TITLE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23458" y="1497719"/>
            <a:ext cx="9716505" cy="101561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				Batch Number:CSE</a:t>
            </a:r>
            <a:r>
              <a:rPr lang="en-GB" sz="1800">
                <a:latin typeface="Cambria" panose="02040503050406030204" pitchFamily="18" charset="0"/>
                <a:ea typeface="Cambria" panose="02040503050406030204" pitchFamily="18" charset="0"/>
              </a:rPr>
              <a:t>_144</a:t>
            </a:r>
            <a:endParaRPr lang="en-GB" sz="1800" dirty="0">
              <a:latin typeface="Cambria" panose="02040503050406030204" pitchFamily="18" charset="0"/>
              <a:ea typeface="Cambria" panose="02040503050406030204" pitchFamily="18" charset="0"/>
            </a:endParaRPr>
          </a:p>
          <a:p>
            <a:pPr marL="0" lvl="0" indent="0" algn="l" rtl="0">
              <a:spcBef>
                <a:spcPts val="0"/>
              </a:spcBef>
              <a:spcAft>
                <a:spcPts val="0"/>
              </a:spcAft>
              <a:buClr>
                <a:srgbClr val="17365D"/>
              </a:buClr>
              <a:buSzPts val="2000"/>
              <a:buNone/>
            </a:pPr>
            <a:endParaRPr lang="en-GB" dirty="0">
              <a:latin typeface="Cambria" panose="02040503050406030204" pitchFamily="18" charset="0"/>
              <a:ea typeface="Cambria" panose="02040503050406030204" pitchFamily="18" charset="0"/>
            </a:endParaRPr>
          </a:p>
          <a:p>
            <a:pPr marL="0" lvl="0" indent="0" algn="l">
              <a:spcBef>
                <a:spcPts val="0"/>
              </a:spcBef>
            </a:pPr>
            <a:r>
              <a:rPr lang="en-US" dirty="0">
                <a:latin typeface="Cambria" panose="02040503050406030204" pitchFamily="18" charset="0"/>
                <a:ea typeface="Cambria" panose="02040503050406030204" pitchFamily="18" charset="0"/>
              </a:rPr>
              <a:t>			Smart Curriculum Activity &amp; Attendance App</a:t>
            </a: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a:lnSpc>
                <a:spcPct val="120000"/>
              </a:lnSpc>
              <a:spcBef>
                <a:spcPts val="340"/>
              </a:spcBef>
              <a:buClr>
                <a:srgbClr val="17365D"/>
              </a:buClr>
              <a:buSzPts val="1700"/>
            </a:pPr>
            <a:r>
              <a:rPr lang="en-US" sz="20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US" sz="2000" b="1" dirty="0">
              <a:solidFill>
                <a:schemeClr val="tx1"/>
              </a:solidFill>
              <a:latin typeface="Cambria" panose="02040503050406030204" pitchFamily="18" charset="0"/>
              <a:ea typeface="Cambria" panose="02040503050406030204" pitchFamily="18" charset="0"/>
            </a:endParaRPr>
          </a:p>
          <a:p>
            <a:pPr>
              <a:lnSpc>
                <a:spcPct val="120000"/>
              </a:lnSpc>
              <a:spcBef>
                <a:spcPts val="340"/>
              </a:spcBef>
              <a:buClr>
                <a:srgbClr val="17365D"/>
              </a:buClr>
              <a:buSzPts val="1700"/>
            </a:pPr>
            <a:r>
              <a:rPr lang="en-US" sz="1600" b="1" dirty="0" err="1">
                <a:solidFill>
                  <a:schemeClr val="accent1"/>
                </a:solidFill>
                <a:latin typeface="Cambria" panose="02040503050406030204" pitchFamily="18" charset="0"/>
                <a:ea typeface="Cambria" panose="02040503050406030204" pitchFamily="18" charset="0"/>
              </a:rPr>
              <a:t>Ms</a:t>
            </a:r>
            <a:r>
              <a:rPr lang="en-US" sz="1600" b="1" dirty="0">
                <a:solidFill>
                  <a:schemeClr val="accent1"/>
                </a:solidFill>
                <a:latin typeface="Cambria" panose="02040503050406030204" pitchFamily="18" charset="0"/>
                <a:ea typeface="Cambria" panose="02040503050406030204" pitchFamily="18" charset="0"/>
              </a:rPr>
              <a:t> Smita S.P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lang="en-US" sz="1800" dirty="0">
              <a:solidFill>
                <a:schemeClr val="tx1"/>
              </a:solidFill>
              <a:latin typeface="Cambria" panose="02040503050406030204" pitchFamily="18" charset="0"/>
              <a:ea typeface="Cambria" panose="02040503050406030204" pitchFamily="18" charset="0"/>
            </a:endParaRPr>
          </a:p>
          <a:p>
            <a:pPr lvl="0">
              <a:lnSpc>
                <a:spcPct val="120000"/>
              </a:lnSpc>
              <a:spcBef>
                <a:spcPts val="340"/>
              </a:spcBef>
              <a:buClr>
                <a:srgbClr val="17365D"/>
              </a:buClr>
              <a:buSzPts val="1700"/>
            </a:pP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lang="en-US" sz="1800" dirty="0">
              <a:solidFill>
                <a:schemeClr val="tx1"/>
              </a:solidFill>
              <a:latin typeface="Cambria" panose="02040503050406030204" pitchFamily="18" charset="0"/>
              <a:ea typeface="Cambria" panose="02040503050406030204" pitchFamily="18" charset="0"/>
            </a:endParaRPr>
          </a:p>
          <a:p>
            <a:pPr lvl="0">
              <a:lnSpc>
                <a:spcPct val="120000"/>
              </a:lnSpc>
              <a:spcBef>
                <a:spcPts val="340"/>
              </a:spcBef>
              <a:buClr>
                <a:srgbClr val="17365D"/>
              </a:buClr>
              <a:buSzPts val="1700"/>
            </a:pP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lang="en-US" sz="1800" dirty="0">
              <a:solidFill>
                <a:schemeClr val="tx1"/>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2091" y="2467155"/>
          <a:ext cx="6369313" cy="1097310"/>
        </p:xfrm>
        <a:graphic>
          <a:graphicData uri="http://schemas.openxmlformats.org/drawingml/2006/table">
            <a:tbl>
              <a:tblPr firstRow="1" bandRow="1">
                <a:noFill/>
                <a:tableStyleId>{57690726-49DA-4552-BDEB-330DD8EA8BD9}</a:tableStyleId>
              </a:tblPr>
              <a:tblGrid>
                <a:gridCol w="3035638"/>
                <a:gridCol w="3333675"/>
              </a:tblGrid>
              <a:tr h="15893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5893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5893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3" y="122754"/>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a:t>
            </a:r>
            <a:r>
              <a:rPr lang="en-US"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3</a:t>
            </a:r>
            <a:endParaRPr lang="en-US" alt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B.Tech</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IN" sz="1800" b="1" dirty="0">
                <a:latin typeface="Cambria" panose="02040503050406030204" pitchFamily="18" charset="0"/>
                <a:ea typeface="Cambria" panose="02040503050406030204" pitchFamily="18" charset="0"/>
              </a:rPr>
              <a:t>Dr. </a:t>
            </a:r>
            <a:r>
              <a:rPr lang="en-IN" sz="1800" b="1">
                <a:latin typeface="Cambria" panose="02040503050406030204" pitchFamily="18" charset="0"/>
                <a:ea typeface="Cambria" panose="02040503050406030204" pitchFamily="18" charset="0"/>
              </a:rPr>
              <a:t>Blessed Prince</a:t>
            </a:r>
            <a:endParaRPr lang="en-IN" sz="1800" b="1" dirty="0">
              <a:latin typeface="Cambria" panose="02040503050406030204" pitchFamily="18" charset="0"/>
              <a:ea typeface="Cambria" panose="02040503050406030204" pitchFamily="18" charset="0"/>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IN" sz="1800" b="1" dirty="0">
                <a:latin typeface="Cambria" panose="02040503050406030204" pitchFamily="18" charset="0"/>
                <a:ea typeface="Cambria" panose="02040503050406030204" pitchFamily="18" charset="0"/>
              </a:rPr>
              <a:t>Mr. </a:t>
            </a:r>
            <a:r>
              <a:rPr lang="en-IN" sz="1800" b="1" dirty="0" err="1">
                <a:latin typeface="Cambria" panose="02040503050406030204" pitchFamily="18" charset="0"/>
                <a:ea typeface="Cambria" panose="02040503050406030204" pitchFamily="18" charset="0"/>
              </a:rPr>
              <a:t>Muthuraju</a:t>
            </a:r>
            <a:r>
              <a:rPr lang="en-IN" sz="1800" b="1" dirty="0">
                <a:latin typeface="Cambria" panose="02040503050406030204" pitchFamily="18" charset="0"/>
                <a:ea typeface="Cambria" panose="02040503050406030204" pitchFamily="18" charset="0"/>
              </a:rPr>
              <a:t> V</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2" name="Table 1"/>
          <p:cNvGraphicFramePr>
            <a:graphicFrameLocks noGrp="1"/>
          </p:cNvGraphicFramePr>
          <p:nvPr/>
        </p:nvGraphicFramePr>
        <p:xfrm>
          <a:off x="442823" y="2513339"/>
          <a:ext cx="5727226" cy="1653876"/>
        </p:xfrm>
        <a:graphic>
          <a:graphicData uri="http://schemas.openxmlformats.org/drawingml/2006/table">
            <a:tbl>
              <a:tblPr firstRow="1" bandRow="1"/>
              <a:tblGrid>
                <a:gridCol w="2863613"/>
                <a:gridCol w="2863613"/>
              </a:tblGrid>
              <a:tr h="413469">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GB" sz="1800" b="1" u="none" strike="noStrike" cap="none">
                          <a:solidFill>
                            <a:srgbClr val="17365D"/>
                          </a:solidFill>
                        </a:rPr>
                        <a:t>Student Name</a:t>
                      </a:r>
                      <a:endParaRPr sz="1800" b="1" u="none" strike="noStrike" cap="none" dirty="0">
                        <a:solidFill>
                          <a:srgbClr val="17365D"/>
                        </a:solidFill>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413469">
                <a:tc>
                  <a:txBody>
                    <a:bodyPr/>
                    <a:lstStyle/>
                    <a:p>
                      <a:pPr marL="0" marR="0" lvl="0" indent="0" algn="ctr" rtl="0">
                        <a:spcBef>
                          <a:spcPts val="0"/>
                        </a:spcBef>
                        <a:spcAft>
                          <a:spcPts val="0"/>
                        </a:spcAft>
                        <a:buFont typeface="+mj-lt"/>
                        <a:buNone/>
                      </a:pPr>
                      <a:r>
                        <a:rPr lang="en-IN" sz="1800" b="0" u="none" strike="noStrike" cap="none">
                          <a:latin typeface="Cambria" panose="02040503050406030204" pitchFamily="18" charset="0"/>
                          <a:ea typeface="Cambria" panose="02040503050406030204" pitchFamily="18" charset="0"/>
                        </a:rPr>
                        <a:t>20221CSE0559</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IN" sz="1800" b="0" u="none" strike="noStrike" cap="none">
                          <a:latin typeface="Cambria" panose="02040503050406030204" pitchFamily="18" charset="0"/>
                          <a:ea typeface="Cambria" panose="02040503050406030204" pitchFamily="18" charset="0"/>
                        </a:rPr>
                        <a:t>Sharanegouda Malipatil</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413469">
                <a:tc>
                  <a:txBody>
                    <a:bodyPr/>
                    <a:lstStyle/>
                    <a:p>
                      <a:pPr marL="0" marR="0" lvl="0" indent="0" algn="ctr" rtl="0">
                        <a:spcBef>
                          <a:spcPts val="0"/>
                        </a:spcBef>
                        <a:spcAft>
                          <a:spcPts val="0"/>
                        </a:spcAft>
                        <a:buNone/>
                      </a:pPr>
                      <a:r>
                        <a:rPr lang="en-IN" sz="1800" b="0" u="none" strike="noStrike" cap="none">
                          <a:latin typeface="Cambria" panose="02040503050406030204" pitchFamily="18" charset="0"/>
                          <a:ea typeface="Cambria" panose="02040503050406030204" pitchFamily="18" charset="0"/>
                        </a:rPr>
                        <a:t>20221CSE0582</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800" b="0" u="none" strike="noStrike" cap="none">
                          <a:latin typeface="Cambria" panose="02040503050406030204" pitchFamily="18" charset="0"/>
                          <a:ea typeface="Cambria" panose="02040503050406030204" pitchFamily="18" charset="0"/>
                        </a:rPr>
                        <a:t>B</a:t>
                      </a:r>
                      <a:r>
                        <a:rPr lang="en-IN" sz="1800" b="0" u="none" strike="noStrike" cap="none">
                          <a:latin typeface="Cambria" panose="02040503050406030204" pitchFamily="18" charset="0"/>
                          <a:ea typeface="Cambria" panose="02040503050406030204" pitchFamily="18" charset="0"/>
                        </a:rPr>
                        <a:t>hagesh</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r h="413469">
                <a:tc>
                  <a:txBody>
                    <a:bodyPr/>
                    <a:lstStyle/>
                    <a:p>
                      <a:pPr marL="0" marR="0" lvl="0" indent="0" algn="ctr" rtl="0">
                        <a:spcBef>
                          <a:spcPts val="0"/>
                        </a:spcBef>
                        <a:spcAft>
                          <a:spcPts val="0"/>
                        </a:spcAft>
                        <a:buNone/>
                      </a:pPr>
                      <a:r>
                        <a:rPr lang="en-IN" sz="1800" b="0" u="none" strike="noStrike" cap="none">
                          <a:latin typeface="Cambria" panose="02040503050406030204" pitchFamily="18" charset="0"/>
                          <a:ea typeface="Cambria" panose="02040503050406030204" pitchFamily="18" charset="0"/>
                        </a:rPr>
                        <a:t>20221CSE0593</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lvl="0" indent="0" algn="l" rtl="0">
                        <a:spcBef>
                          <a:spcPts val="0"/>
                        </a:spcBef>
                        <a:spcAft>
                          <a:spcPts val="0"/>
                        </a:spcAft>
                        <a:buNone/>
                      </a:pPr>
                      <a:r>
                        <a:rPr lang="en-US" sz="1800" b="0" u="none" strike="noStrike" cap="none" dirty="0">
                          <a:latin typeface="Cambria" panose="02040503050406030204" pitchFamily="18" charset="0"/>
                          <a:ea typeface="Cambria" panose="02040503050406030204" pitchFamily="18" charset="0"/>
                        </a:rPr>
                        <a:t>K</a:t>
                      </a:r>
                      <a:r>
                        <a:rPr lang="en-IN" sz="1800" b="0" u="none" strike="noStrike" cap="none" dirty="0" err="1">
                          <a:latin typeface="Cambria" panose="02040503050406030204" pitchFamily="18" charset="0"/>
                          <a:ea typeface="Cambria" panose="02040503050406030204" pitchFamily="18" charset="0"/>
                        </a:rPr>
                        <a:t>otesh</a:t>
                      </a:r>
                      <a:r>
                        <a:rPr lang="en-IN" sz="1800" b="0" u="none" strike="noStrike" cap="none" dirty="0">
                          <a:latin typeface="Cambria" panose="02040503050406030204" pitchFamily="18" charset="0"/>
                          <a:ea typeface="Cambria" panose="02040503050406030204" pitchFamily="18" charset="0"/>
                        </a:rPr>
                        <a:t> N B</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Problem Statement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85800" y="1036774"/>
            <a:ext cx="10109008" cy="5089705"/>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1600" dirty="0" err="1">
                <a:latin typeface="Cambria" panose="02040503050406030204" pitchFamily="18" charset="0"/>
                <a:ea typeface="Cambria" panose="02040503050406030204" pitchFamily="18" charset="0"/>
              </a:rPr>
              <a:t>Organization:Educational</a:t>
            </a:r>
            <a:endParaRPr lang="en-US" sz="16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1600" dirty="0">
                <a:latin typeface="Cambria" panose="02040503050406030204" pitchFamily="18" charset="0"/>
                <a:ea typeface="Cambria" panose="02040503050406030204" pitchFamily="18" charset="0"/>
              </a:rPr>
              <a:t>Category (Hardware / Software / Both) :</a:t>
            </a:r>
            <a:r>
              <a:rPr lang="en-US" sz="1600" dirty="0"/>
              <a:t> Software</a:t>
            </a:r>
            <a:endParaRPr lang="en-US" sz="1600" dirty="0"/>
          </a:p>
          <a:p>
            <a:pPr marL="152400" indent="0" algn="just">
              <a:lnSpc>
                <a:spcPct val="200000"/>
              </a:lnSpc>
              <a:spcBef>
                <a:spcPts val="0"/>
              </a:spcBef>
              <a:buNone/>
            </a:pPr>
            <a:r>
              <a:rPr lang="en-US" sz="1600" dirty="0">
                <a:latin typeface="Cambria" panose="02040503050406030204" pitchFamily="18" charset="0"/>
                <a:ea typeface="Cambria" panose="02040503050406030204" pitchFamily="18" charset="0"/>
              </a:rPr>
              <a:t>Problem Description:</a:t>
            </a:r>
            <a:endParaRPr lang="en-US" sz="1600" dirty="0">
              <a:latin typeface="Cambria" panose="02040503050406030204" pitchFamily="18" charset="0"/>
              <a:ea typeface="Cambria" panose="02040503050406030204" pitchFamily="18" charset="0"/>
            </a:endParaRPr>
          </a:p>
          <a:p>
            <a:pPr marL="152400" indent="0" algn="just">
              <a:lnSpc>
                <a:spcPct val="200000"/>
              </a:lnSpc>
              <a:spcBef>
                <a:spcPts val="0"/>
              </a:spcBef>
              <a:buNone/>
            </a:pPr>
            <a:r>
              <a:rPr lang="en-US" sz="1600" dirty="0">
                <a:latin typeface="Cambria" panose="02040503050406030204" pitchFamily="18" charset="0"/>
                <a:ea typeface="Cambria" panose="02040503050406030204" pitchFamily="18" charset="0"/>
              </a:rPr>
              <a:t>Many educational institutions still rely on manual or basic digital attendance systems that consume class time and are prone to errors. Teachers spend valuable instructional time marking attendance instead of teaching. At the same time, students often misuse free periods due to the lack of structured academic or career guidance. Existing systems do not integrate attendance, timetable management, and personal planning. This creates inefficiency in administration and reduced student productivity. A smart, integrated solution is required to automate attendance and guide students toward productive use of their academic time.</a:t>
            </a:r>
            <a:endParaRPr lang="en-US" altLang="en-US" sz="1600" dirty="0">
              <a:solidFill>
                <a:schemeClr val="tx1"/>
              </a:solidFill>
              <a:latin typeface="Arial" panose="020B0604020202020204" pitchFamily="34" charset="0"/>
            </a:endParaRPr>
          </a:p>
          <a:p>
            <a:pPr marL="438150" indent="-285750" algn="just">
              <a:lnSpc>
                <a:spcPct val="200000"/>
              </a:lnSpc>
              <a:spcBef>
                <a:spcPts val="0"/>
              </a:spcBef>
            </a:pPr>
            <a:endParaRPr lang="en-US" altLang="en-US" sz="1600" dirty="0">
              <a:solidFill>
                <a:schemeClr val="tx1"/>
              </a:solidFill>
              <a:latin typeface="Arial" panose="020B0604020202020204" pitchFamily="34" charset="0"/>
            </a:endParaRPr>
          </a:p>
          <a:p>
            <a:pPr marL="152400" indent="0" algn="just">
              <a:lnSpc>
                <a:spcPct val="200000"/>
              </a:lnSpc>
              <a:spcBef>
                <a:spcPts val="0"/>
              </a:spcBef>
              <a:buNone/>
            </a:pPr>
            <a:endParaRPr lang="en-US" sz="1400" dirty="0"/>
          </a:p>
          <a:p>
            <a:pPr marL="438150" indent="-285750" algn="just">
              <a:lnSpc>
                <a:spcPct val="200000"/>
              </a:lnSpc>
              <a:spcBef>
                <a:spcPts val="0"/>
              </a:spcBef>
            </a:pPr>
            <a:endParaRPr lang="en-US" sz="1400" dirty="0"/>
          </a:p>
          <a:p>
            <a:pPr marL="438150" indent="-285750" algn="just">
              <a:lnSpc>
                <a:spcPct val="200000"/>
              </a:lnSpc>
              <a:spcBef>
                <a:spcPts val="0"/>
              </a:spcBef>
            </a:pPr>
            <a:endParaRPr lang="en-US" sz="1400" dirty="0">
              <a:latin typeface="Cambria" panose="02040503050406030204" pitchFamily="18" charset="0"/>
              <a:ea typeface="Cambria" panose="02040503050406030204" pitchFamily="18" charset="0"/>
            </a:endParaRPr>
          </a:p>
        </p:txBody>
      </p:sp>
      <p:sp>
        <p:nvSpPr>
          <p:cNvPr id="10" name="Rectangle 9"/>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a:ln>
                  <a:noFill/>
                </a:ln>
                <a:solidFill>
                  <a:schemeClr val="tx1"/>
                </a:solidFill>
                <a:effectLst/>
                <a:latin typeface="Arial" panose="020B0604020202020204" pitchFamily="34" charset="0"/>
              </a:rPr>
              <a:t>Accessibility</a:t>
            </a:r>
            <a:r>
              <a:rPr kumimoji="0" lang="en-US" altLang="en-US" sz="1800" b="0" i="0" u="none" strike="noStrike" cap="none" normalizeH="0" baseline="0">
                <a:ln>
                  <a:noFill/>
                </a:ln>
                <a:solidFill>
                  <a:schemeClr val="tx1"/>
                </a:solidFill>
                <a:effectLst/>
                <a:latin typeface="Arial" panose="020B0604020202020204" pitchFamily="34" charset="0"/>
              </a:rPr>
              <a:t> – Allows visitors to book tickets anytime, anywhere, including for people with disabilities.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152400" y="-322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2"/>
          <p:cNvSpPr>
            <a:spLocks noChangeArrowheads="1"/>
          </p:cNvSpPr>
          <p:nvPr/>
        </p:nvSpPr>
        <p:spPr bwMode="auto">
          <a:xfrm>
            <a:off x="290423" y="3889878"/>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endParaRPr lang="en-US" dirty="0">
              <a:latin typeface="Cambria" panose="02040503050406030204" pitchFamily="18" charset="0"/>
              <a:ea typeface="Cambria" panose="02040503050406030204" pitchFamily="18" charset="0"/>
            </a:endParaRPr>
          </a:p>
        </p:txBody>
      </p:sp>
      <p:sp>
        <p:nvSpPr>
          <p:cNvPr id="11" name="Text Placeholder 10"/>
          <p:cNvSpPr>
            <a:spLocks noGrp="1" noChangeArrowheads="1"/>
          </p:cNvSpPr>
          <p:nvPr>
            <p:ph type="body" idx="1"/>
          </p:nvPr>
        </p:nvSpPr>
        <p:spPr bwMode="auto">
          <a:xfrm>
            <a:off x="783431" y="1196999"/>
            <a:ext cx="1072673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develop a smart attendance and curriculum activity application for educational institutions.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algn="just" eaLnBrk="0" fontAlgn="base" hangingPunct="0">
              <a:spcBef>
                <a:spcPct val="0"/>
              </a:spcBef>
              <a:spcAft>
                <a:spcPct val="0"/>
              </a:spcAft>
              <a:buClrTx/>
              <a:buSzTx/>
              <a:buFontTx/>
              <a:buChar char="•"/>
            </a:pPr>
            <a:r>
              <a:rPr lang="en-US" dirty="0">
                <a:latin typeface="Cambria" panose="02040503050406030204" pitchFamily="18" charset="0"/>
                <a:ea typeface="Cambria" panose="02040503050406030204" pitchFamily="18" charset="0"/>
              </a:rPr>
              <a:t>To automate attendance using digital methods and reduce manual effort, errors, and time consumption for teachers.</a:t>
            </a:r>
            <a:endParaRPr lang="en-US" dirty="0">
              <a:latin typeface="Cambria" panose="02040503050406030204" pitchFamily="18" charset="0"/>
              <a:ea typeface="Cambria" panose="02040503050406030204" pitchFamily="18" charset="0"/>
            </a:endParaRPr>
          </a:p>
          <a:p>
            <a:pPr marL="0" lvl="0" indent="0" algn="just" eaLnBrk="0" fontAlgn="base" hangingPunct="0">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help students utilize free periods in a productive and goal-oriented manner.</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generate a structured daily routine based on timetable and student goals.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algn="just" eaLnBrk="0" fontAlgn="base" hangingPunct="0">
              <a:spcBef>
                <a:spcPct val="0"/>
              </a:spcBef>
              <a:spcAft>
                <a:spcPct val="0"/>
              </a:spcAft>
              <a:buClrTx/>
              <a:buSzTx/>
              <a:buFontTx/>
              <a:buChar char="•"/>
            </a:pPr>
            <a:r>
              <a:rPr lang="en-US" dirty="0">
                <a:latin typeface="Cambria" panose="02040503050406030204" pitchFamily="18" charset="0"/>
                <a:ea typeface="Cambria" panose="02040503050406030204" pitchFamily="18" charset="0"/>
              </a:rPr>
              <a:t>To improve student engagement, discipline, and time management by promoting organized and consistent academic habits.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lvl="0" indent="0" algn="just" eaLnBrk="0" fontAlgn="base" hangingPunct="0">
              <a:spcBef>
                <a:spcPct val="0"/>
              </a:spcBef>
              <a:spcAft>
                <a:spcPct val="0"/>
              </a:spcAft>
              <a:buClrTx/>
              <a:buSzTx/>
              <a:buFontTx/>
              <a:buChar char="•"/>
            </a:pPr>
            <a:r>
              <a:rPr lang="en-US" dirty="0">
                <a:latin typeface="Cambria" panose="02040503050406030204" pitchFamily="18" charset="0"/>
                <a:ea typeface="Cambria" panose="02040503050406030204" pitchFamily="18" charset="0"/>
              </a:rPr>
              <a:t>To provide an easy-to-use, reliable system that can be efficiently used by both students and faculty members.</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Background and Related work for title Selection</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491066" y="967606"/>
            <a:ext cx="10621727" cy="3836406"/>
          </a:xfrm>
          <a:prstGeom prst="rect">
            <a:avLst/>
          </a:prstGeom>
          <a:noFill/>
          <a:ln>
            <a:noFill/>
          </a:ln>
        </p:spPr>
        <p:txBody>
          <a:bodyPr spcFirstLastPara="1" wrap="square" lIns="91425" tIns="45700" rIns="91425" bIns="45700" anchor="t" anchorCtr="0">
            <a:noAutofit/>
          </a:bodyPr>
          <a:lstStyle/>
          <a:p>
            <a:pPr algn="just">
              <a:lnSpc>
                <a:spcPct val="150000"/>
              </a:lnSpc>
              <a:spcBef>
                <a:spcPts val="100"/>
              </a:spcBef>
              <a:buNone/>
            </a:pPr>
            <a:r>
              <a:rPr lang="en-US" sz="2300" dirty="0">
                <a:latin typeface="Cambria" panose="02040503050406030204" pitchFamily="18" charset="0"/>
                <a:ea typeface="Cambria" panose="02040503050406030204" pitchFamily="18" charset="0"/>
              </a:rPr>
              <a:t>	The use of digital tools in education has increased rapidly, especially for attendance and timetable management. However, most existing systems focus only on attendance recording and lack features that support student productivity during free hours. Studies show that structured planning and guided activities improve learning outcomes and personal development. Current solutions do not combine attendance automation with personalized activity suggestions. This highlights the need for a smart application that integrates attendance tracking with curriculum-based activity planning, leading to the selection of the title </a:t>
            </a:r>
            <a:r>
              <a:rPr lang="en-US" sz="2300" i="1" dirty="0">
                <a:latin typeface="Cambria" panose="02040503050406030204" pitchFamily="18" charset="0"/>
                <a:ea typeface="Cambria" panose="02040503050406030204" pitchFamily="18" charset="0"/>
              </a:rPr>
              <a:t>Smart Curriculum Activity &amp; Attendance App</a:t>
            </a:r>
            <a:r>
              <a:rPr lang="en-US" sz="2300" dirty="0">
                <a:latin typeface="Cambria" panose="02040503050406030204" pitchFamily="18" charset="0"/>
                <a:ea typeface="Cambria" panose="02040503050406030204" pitchFamily="18" charset="0"/>
              </a:rPr>
              <a:t>.</a:t>
            </a:r>
            <a:endParaRPr lang="en-US" sz="23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85800" y="1143000"/>
            <a:ext cx="11109960" cy="483108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Current Issue: </a:t>
            </a:r>
            <a:r>
              <a:rPr lang="en-US" sz="2000" dirty="0"/>
              <a:t>Many educational institutions still rely on manual or partially digital attendance systems, which are time-consuming and prone to human errors.</a:t>
            </a:r>
            <a:endParaRPr lang="en-US" sz="2000" dirty="0"/>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Student Impact:</a:t>
            </a:r>
            <a:r>
              <a:rPr lang="en-US" altLang="en-US" sz="2000" dirty="0">
                <a:solidFill>
                  <a:schemeClr val="tx1"/>
                </a:solidFill>
                <a:latin typeface="Arial" panose="020B0604020202020204" pitchFamily="34" charset="0"/>
              </a:rPr>
              <a:t> </a:t>
            </a:r>
            <a:r>
              <a:rPr lang="en-US" sz="2000" dirty="0"/>
              <a:t>Students lose valuable classroom time during attendance marking and often misuse free periods due to the absence of structured academic guidance.</a:t>
            </a:r>
            <a:endParaRPr lang="en-US" sz="2000" dirty="0"/>
          </a:p>
          <a:p>
            <a:pPr marL="0" lvl="0" indent="0" eaLnBrk="0" fontAlgn="base" hangingPunct="0">
              <a:spcBef>
                <a:spcPct val="0"/>
              </a:spcBef>
              <a:spcAft>
                <a:spcPct val="0"/>
              </a:spcAft>
              <a:buClrTx/>
              <a:buSzTx/>
              <a:buFontTx/>
              <a:buChar char="•"/>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Faculty &amp; Administrative Challenges: </a:t>
            </a:r>
            <a:r>
              <a:rPr lang="en-US" sz="2000" dirty="0"/>
              <a:t>Teachers spend significant instructional time managing attendance records, while administrators face difficulties in maintaining accurate and consolidated data</a:t>
            </a: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Academic &amp; Discipline Risk:</a:t>
            </a:r>
            <a:r>
              <a:rPr lang="en-US" altLang="en-US" sz="2000" dirty="0">
                <a:solidFill>
                  <a:schemeClr val="tx1"/>
                </a:solidFill>
                <a:latin typeface="Arial" panose="020B0604020202020204" pitchFamily="34" charset="0"/>
              </a:rPr>
              <a:t> </a:t>
            </a:r>
            <a:r>
              <a:rPr lang="en-US" sz="2000" dirty="0"/>
              <a:t>Inaccurate attendance tracking and unproductive use of free time negatively affect student discipline, engagement, and overall academic performance.</a:t>
            </a: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Need for Change:</a:t>
            </a:r>
            <a:r>
              <a:rPr lang="en-US" altLang="en-US" sz="2000" dirty="0">
                <a:solidFill>
                  <a:schemeClr val="tx1"/>
                </a:solidFill>
                <a:latin typeface="Arial" panose="020B0604020202020204" pitchFamily="34" charset="0"/>
              </a:rPr>
              <a:t> </a:t>
            </a:r>
            <a:r>
              <a:rPr lang="en-US" sz="2000" dirty="0"/>
              <a:t>A smart, integrated system is required to automate attendance, manage timetables, and guide students toward productive utilization of their academic time.</a:t>
            </a:r>
            <a:endParaRPr lang="en-US" sz="2000" dirty="0"/>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Goal:</a:t>
            </a:r>
            <a:r>
              <a:rPr lang="en-US" altLang="en-US" sz="2000" dirty="0">
                <a:solidFill>
                  <a:schemeClr val="tx1"/>
                </a:solidFill>
                <a:latin typeface="Arial" panose="020B0604020202020204" pitchFamily="34" charset="0"/>
              </a:rPr>
              <a:t> </a:t>
            </a:r>
            <a:r>
              <a:rPr lang="en-US" sz="2000" dirty="0"/>
              <a:t>To improve teaching efficiency, enhance student productivity, ensure accurate attendance records, and provide real-time insights for faculty and institutions.</a:t>
            </a:r>
            <a:endParaRPr lang="en-US" altLang="en-US" sz="2000" dirty="0">
              <a:solidFill>
                <a:schemeClr val="tx1"/>
              </a:solidFill>
              <a:latin typeface="Arial" panose="020B0604020202020204" pitchFamily="34"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895350" lvl="1" indent="-285750" algn="just">
              <a:spcBef>
                <a:spcPts val="0"/>
              </a:spcBef>
              <a:buSzPct val="100000"/>
            </a:pPr>
            <a:endParaRPr lang="en-US" sz="16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5" name="Rectangle 4"/>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Requirements: </a:t>
            </a:r>
            <a:endParaRPr lang="en-US"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Frontend:</a:t>
            </a:r>
            <a:r>
              <a:rPr lang="en-US" altLang="en-US" sz="2000" dirty="0">
                <a:solidFill>
                  <a:schemeClr val="tx1"/>
                </a:solidFill>
                <a:latin typeface="Arial" panose="020B0604020202020204" pitchFamily="34" charset="0"/>
              </a:rPr>
              <a:t> HTML, CSS, JavaScript</a:t>
            </a: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Backend:</a:t>
            </a:r>
            <a:r>
              <a:rPr lang="en-US" altLang="en-US" sz="2000" dirty="0">
                <a:solidFill>
                  <a:schemeClr val="tx1"/>
                </a:solidFill>
                <a:latin typeface="Arial" panose="020B0604020202020204" pitchFamily="34" charset="0"/>
              </a:rPr>
              <a:t> Node.js, Express.js</a:t>
            </a: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Database:</a:t>
            </a:r>
            <a:r>
              <a:rPr lang="en-US" altLang="en-US" sz="2000" dirty="0">
                <a:solidFill>
                  <a:schemeClr val="tx1"/>
                </a:solidFill>
                <a:latin typeface="Arial" panose="020B0604020202020204" pitchFamily="34" charset="0"/>
              </a:rPr>
              <a:t> MongoDB</a:t>
            </a: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IDE/Editor:</a:t>
            </a:r>
            <a:r>
              <a:rPr lang="en-US" altLang="en-US" sz="2000" dirty="0">
                <a:solidFill>
                  <a:schemeClr val="tx1"/>
                </a:solidFill>
                <a:latin typeface="Arial" panose="020B0604020202020204" pitchFamily="34" charset="0"/>
              </a:rPr>
              <a:t> Visual Studio Code / Sublime Text</a:t>
            </a:r>
            <a:endParaRPr lang="en-US" altLang="en-US" sz="2000" dirty="0">
              <a:solidFill>
                <a:schemeClr val="tx1"/>
              </a:solidFill>
              <a:latin typeface="Arial" panose="020B0604020202020204" pitchFamily="34" charset="0"/>
            </a:endParaRPr>
          </a:p>
          <a:p>
            <a:pPr marL="0" lvl="0" indent="0" eaLnBrk="0" fontAlgn="base" hangingPunct="0">
              <a:spcBef>
                <a:spcPct val="0"/>
              </a:spcBef>
              <a:spcAft>
                <a:spcPct val="0"/>
              </a:spcAft>
              <a:buClrTx/>
              <a:buSzTx/>
              <a:buFontTx/>
              <a:buChar char="•"/>
            </a:pPr>
            <a:r>
              <a:rPr lang="en-US" altLang="en-US" sz="2000" b="1" dirty="0">
                <a:solidFill>
                  <a:schemeClr val="tx1"/>
                </a:solidFill>
                <a:latin typeface="Arial" panose="020B0604020202020204" pitchFamily="34" charset="0"/>
              </a:rPr>
              <a:t>Browser:</a:t>
            </a:r>
            <a:r>
              <a:rPr lang="en-US" altLang="en-US" sz="2000" dirty="0">
                <a:solidFill>
                  <a:schemeClr val="tx1"/>
                </a:solidFill>
                <a:latin typeface="Arial" panose="020B0604020202020204" pitchFamily="34" charset="0"/>
              </a:rPr>
              <a:t> Google Chrome</a:t>
            </a:r>
            <a:endParaRPr lang="en-US" altLang="en-US" sz="2000" dirty="0">
              <a:solidFill>
                <a:schemeClr val="tx1"/>
              </a:solidFill>
              <a:latin typeface="Arial" panose="020B0604020202020204" pitchFamily="34" charset="0"/>
            </a:endParaRPr>
          </a:p>
          <a:p>
            <a:pPr marL="342900" lvl="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Hardware Requirements: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000" dirty="0">
                <a:latin typeface="Cambria" panose="02040503050406030204" pitchFamily="18" charset="0"/>
                <a:ea typeface="Cambria" panose="02040503050406030204" pitchFamily="18" charset="0"/>
              </a:rPr>
              <a:t>Laptop/Desktop Computer</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000" dirty="0">
                <a:latin typeface="Cambria" panose="02040503050406030204" pitchFamily="18" charset="0"/>
                <a:ea typeface="Cambria" panose="02040503050406030204" pitchFamily="18" charset="0"/>
              </a:rPr>
              <a:t>Minimum 4 GB RAM</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SzPct val="100000"/>
            </a:pPr>
            <a:r>
              <a:rPr lang="en-US" sz="2000" dirty="0">
                <a:latin typeface="Cambria" panose="02040503050406030204" pitchFamily="18" charset="0"/>
                <a:ea typeface="Cambria" panose="02040503050406030204" pitchFamily="18" charset="0"/>
              </a:rPr>
              <a:t>Internet Connection</a:t>
            </a:r>
            <a:endParaRPr lang="en-US" sz="2000" dirty="0">
              <a:latin typeface="Cambria" panose="02040503050406030204" pitchFamily="18" charset="0"/>
              <a:ea typeface="Cambria" panose="02040503050406030204" pitchFamily="18" charset="0"/>
            </a:endParaRPr>
          </a:p>
          <a:p>
            <a:pPr marL="342900" lvl="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5" name="Rectangle 3"/>
          <p:cNvSpPr>
            <a:spLocks noGrp="1" noChangeArrowheads="1"/>
          </p:cNvSpPr>
          <p:nvPr>
            <p:ph type="body" idx="1"/>
          </p:nvPr>
        </p:nvSpPr>
        <p:spPr bwMode="auto">
          <a:xfrm>
            <a:off x="441960" y="1291492"/>
            <a:ext cx="1175004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Existing attendance systems are mostly </a:t>
            </a:r>
            <a:r>
              <a:rPr kumimoji="0" lang="en-US" altLang="en-US" sz="2000" b="1" i="0" u="none" strike="noStrike" cap="none" normalizeH="0" baseline="0" dirty="0">
                <a:ln>
                  <a:noFill/>
                </a:ln>
                <a:solidFill>
                  <a:schemeClr val="tx1"/>
                </a:solidFill>
                <a:effectLst/>
                <a:latin typeface="Arial" panose="020B0604020202020204" pitchFamily="34" charset="0"/>
              </a:rPr>
              <a:t>manual or semi-digital</a:t>
            </a:r>
            <a:r>
              <a:rPr kumimoji="0" lang="en-US" altLang="en-US" sz="2000" b="0" i="0" u="none" strike="noStrike" cap="none" normalizeH="0" baseline="0" dirty="0">
                <a:ln>
                  <a:noFill/>
                </a:ln>
                <a:solidFill>
                  <a:schemeClr val="tx1"/>
                </a:solidFill>
                <a:effectLst/>
                <a:latin typeface="Arial" panose="020B0604020202020204" pitchFamily="34" charset="0"/>
              </a:rPr>
              <a:t>, causing delays and consuming valuable classroom time.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Manual attendance marking is </a:t>
            </a:r>
            <a:r>
              <a:rPr kumimoji="0" lang="en-US" altLang="en-US" sz="2000" b="1" i="0" u="none" strike="noStrike" cap="none" normalizeH="0" baseline="0" dirty="0">
                <a:ln>
                  <a:noFill/>
                </a:ln>
                <a:solidFill>
                  <a:schemeClr val="tx1"/>
                </a:solidFill>
                <a:effectLst/>
                <a:latin typeface="Arial" panose="020B0604020202020204" pitchFamily="34" charset="0"/>
              </a:rPr>
              <a:t>prone to errors</a:t>
            </a:r>
            <a:r>
              <a:rPr kumimoji="0" lang="en-US" altLang="en-US" sz="2000" b="0" i="0" u="none" strike="noStrike" cap="none" normalizeH="0" baseline="0" dirty="0">
                <a:ln>
                  <a:noFill/>
                </a:ln>
                <a:solidFill>
                  <a:schemeClr val="tx1"/>
                </a:solidFill>
                <a:effectLst/>
                <a:latin typeface="Arial" panose="020B0604020202020204" pitchFamily="34" charset="0"/>
              </a:rPr>
              <a:t>, proxy attendance, and inconsistent record maintenance.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Lack of an integrated system means </a:t>
            </a:r>
            <a:r>
              <a:rPr kumimoji="0" lang="en-US" altLang="en-US" sz="2000" b="1" i="0" u="none" strike="noStrike" cap="none" normalizeH="0" baseline="0" dirty="0">
                <a:ln>
                  <a:noFill/>
                </a:ln>
                <a:solidFill>
                  <a:schemeClr val="tx1"/>
                </a:solidFill>
                <a:effectLst/>
                <a:latin typeface="Arial" panose="020B0604020202020204" pitchFamily="34" charset="0"/>
              </a:rPr>
              <a:t>attendance, timetable, and student planning are handled separately</a:t>
            </a:r>
            <a:r>
              <a:rPr kumimoji="0" lang="en-US" altLang="en-US" sz="2000" b="0" i="0" u="none" strike="noStrike" cap="none" normalizeH="0" baseline="0" dirty="0">
                <a:ln>
                  <a:noFill/>
                </a:ln>
                <a:solidFill>
                  <a:schemeClr val="tx1"/>
                </a:solidFill>
                <a:effectLst/>
                <a:latin typeface="Arial" panose="020B0604020202020204" pitchFamily="34" charset="0"/>
              </a:rPr>
              <a:t>, reducing efficiency.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Students often </a:t>
            </a:r>
            <a:r>
              <a:rPr kumimoji="0" lang="en-US" altLang="en-US" sz="2000" b="1" i="0" u="none" strike="noStrike" cap="none" normalizeH="0" baseline="0" dirty="0">
                <a:ln>
                  <a:noFill/>
                </a:ln>
                <a:solidFill>
                  <a:schemeClr val="tx1"/>
                </a:solidFill>
                <a:effectLst/>
                <a:latin typeface="Arial" panose="020B0604020202020204" pitchFamily="34" charset="0"/>
              </a:rPr>
              <a:t>misuse free periods</a:t>
            </a:r>
            <a:r>
              <a:rPr kumimoji="0" lang="en-US" altLang="en-US" sz="2000" b="0" i="0" u="none" strike="noStrike" cap="none" normalizeH="0" baseline="0" dirty="0">
                <a:ln>
                  <a:noFill/>
                </a:ln>
                <a:solidFill>
                  <a:schemeClr val="tx1"/>
                </a:solidFill>
                <a:effectLst/>
                <a:latin typeface="Arial" panose="020B0604020202020204" pitchFamily="34" charset="0"/>
              </a:rPr>
              <a:t> due to the absence of structured academic or productivity guidance.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Manual and fragmented systems increase </a:t>
            </a:r>
            <a:r>
              <a:rPr kumimoji="0" lang="en-US" altLang="en-US" sz="2000" b="1" i="0" u="none" strike="noStrike" cap="none" normalizeH="0" baseline="0" dirty="0">
                <a:ln>
                  <a:noFill/>
                </a:ln>
                <a:solidFill>
                  <a:schemeClr val="tx1"/>
                </a:solidFill>
                <a:effectLst/>
                <a:latin typeface="Arial" panose="020B0604020202020204" pitchFamily="34" charset="0"/>
              </a:rPr>
              <a:t>faculty workload and administrative effort</a:t>
            </a:r>
            <a:r>
              <a:rPr kumimoji="0" lang="en-US" altLang="en-US" sz="2000" b="0" i="0" u="none" strike="noStrike" cap="none" normalizeH="0" baseline="0" dirty="0">
                <a:ln>
                  <a:noFill/>
                </a:ln>
                <a:solidFill>
                  <a:schemeClr val="tx1"/>
                </a:solidFill>
                <a:effectLst/>
                <a:latin typeface="Arial" panose="020B0604020202020204" pitchFamily="34"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Absence of </a:t>
            </a:r>
            <a:r>
              <a:rPr kumimoji="0" lang="en-US" altLang="en-US" sz="2000" b="1" i="0" u="none" strike="noStrike" cap="none" normalizeH="0" baseline="0" dirty="0">
                <a:ln>
                  <a:noFill/>
                </a:ln>
                <a:solidFill>
                  <a:schemeClr val="tx1"/>
                </a:solidFill>
                <a:effectLst/>
                <a:latin typeface="Arial" panose="020B0604020202020204" pitchFamily="34" charset="0"/>
              </a:rPr>
              <a:t>analytics and reporting tools</a:t>
            </a:r>
            <a:r>
              <a:rPr kumimoji="0" lang="en-US" altLang="en-US" sz="2000" b="0" i="0" u="none" strike="noStrike" cap="none" normalizeH="0" baseline="0" dirty="0">
                <a:ln>
                  <a:noFill/>
                </a:ln>
                <a:solidFill>
                  <a:schemeClr val="tx1"/>
                </a:solidFill>
                <a:effectLst/>
                <a:latin typeface="Arial" panose="020B0604020202020204" pitchFamily="34" charset="0"/>
              </a:rPr>
              <a:t> makes it difficult to monitor attendance trends, student engagement, and overall academic performance.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Innovation or Novel Contributions</a:t>
            </a:r>
            <a:endParaRPr lang="en-US" dirty="0">
              <a:latin typeface="Cambria" panose="02040503050406030204" pitchFamily="18" charset="0"/>
              <a:ea typeface="Cambria" panose="02040503050406030204" pitchFamily="18" charset="0"/>
            </a:endParaRPr>
          </a:p>
        </p:txBody>
      </p:sp>
      <p:sp>
        <p:nvSpPr>
          <p:cNvPr id="3" name="Text Placeholder 2"/>
          <p:cNvSpPr>
            <a:spLocks noGrp="1" noChangeArrowheads="1"/>
          </p:cNvSpPr>
          <p:nvPr>
            <p:ph type="body" idx="1"/>
          </p:nvPr>
        </p:nvSpPr>
        <p:spPr bwMode="auto">
          <a:xfrm>
            <a:off x="782638" y="1149675"/>
            <a:ext cx="1105826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Integrated System: </a:t>
            </a:r>
            <a:r>
              <a:rPr kumimoji="0" lang="en-US" altLang="en-US" sz="2000" b="0" i="0" u="none" strike="noStrike" cap="none" normalizeH="0" baseline="0" dirty="0">
                <a:ln>
                  <a:noFill/>
                </a:ln>
                <a:solidFill>
                  <a:schemeClr val="tx1"/>
                </a:solidFill>
                <a:effectLst/>
                <a:latin typeface="Arial" panose="020B0604020202020204" pitchFamily="34" charset="0"/>
              </a:rPr>
              <a:t>Combines </a:t>
            </a:r>
            <a:r>
              <a:rPr kumimoji="0" lang="en-US" altLang="en-US" sz="2000" b="0" i="1" u="none" strike="noStrike" cap="none" normalizeH="0" baseline="0" dirty="0">
                <a:ln>
                  <a:noFill/>
                </a:ln>
                <a:solidFill>
                  <a:schemeClr val="tx1"/>
                </a:solidFill>
                <a:effectLst/>
                <a:latin typeface="Arial" panose="020B0604020202020204" pitchFamily="34" charset="0"/>
              </a:rPr>
              <a:t>attendance automation</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0" i="1" u="none" strike="noStrike" cap="none" normalizeH="0" baseline="0" dirty="0">
                <a:ln>
                  <a:noFill/>
                </a:ln>
                <a:solidFill>
                  <a:schemeClr val="tx1"/>
                </a:solidFill>
                <a:effectLst/>
                <a:latin typeface="Arial" panose="020B0604020202020204" pitchFamily="34" charset="0"/>
              </a:rPr>
              <a:t>student productivity planning</a:t>
            </a:r>
            <a:r>
              <a:rPr kumimoji="0" lang="en-US" altLang="en-US" sz="2000" b="0" i="0" u="none" strike="noStrike" cap="none" normalizeH="0" baseline="0" dirty="0">
                <a:ln>
                  <a:noFill/>
                </a:ln>
                <a:solidFill>
                  <a:schemeClr val="tx1"/>
                </a:solidFill>
                <a:effectLst/>
                <a:latin typeface="Arial" panose="020B0604020202020204" pitchFamily="34" charset="0"/>
              </a:rPr>
              <a:t> in a single platform, which existing systems treat separately.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Free-Period Activity Guidance</a:t>
            </a:r>
            <a:r>
              <a:rPr lang="en-US" altLang="en-US" sz="2000" dirty="0">
                <a:solidFill>
                  <a:schemeClr val="tx1"/>
                </a:solidFill>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Provides structured, curriculum-based activity suggestions during free periods instead of leaving time unmanaged.</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Smart Routine Generation</a:t>
            </a:r>
            <a:r>
              <a:rPr lang="en-US" altLang="en-US" sz="2000" dirty="0">
                <a:solidFill>
                  <a:schemeClr val="tx1"/>
                </a:solidFill>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Uses timetable data to generate a daily academic routine automatically.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Real-Time Transparency</a:t>
            </a:r>
            <a:r>
              <a:rPr lang="en-US" altLang="en-US" sz="2000" dirty="0">
                <a:solidFill>
                  <a:schemeClr val="tx1"/>
                </a:solidFill>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Enables students to view attendance status instantly, improving accountability and discipline.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Reduced Faculty Workload: </a:t>
            </a:r>
            <a:r>
              <a:rPr kumimoji="0" lang="en-US" altLang="en-US" sz="2000" b="0" i="0" u="none" strike="noStrike" cap="none" normalizeH="0" baseline="0" dirty="0">
                <a:ln>
                  <a:noFill/>
                </a:ln>
                <a:solidFill>
                  <a:schemeClr val="tx1"/>
                </a:solidFill>
                <a:effectLst/>
                <a:latin typeface="Arial" panose="020B0604020202020204" pitchFamily="34" charset="0"/>
              </a:rPr>
              <a:t>Minimizes manual effort and classroom time spent on attendance.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Arial" panose="020B0604020202020204" pitchFamily="34" charset="0"/>
              </a:rPr>
              <a:t>Data-Driven Insights</a:t>
            </a:r>
            <a:r>
              <a:rPr lang="en-US" altLang="en-US" sz="2000" dirty="0">
                <a:solidFill>
                  <a:schemeClr val="tx1"/>
                </a:solidFill>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Generates attendance and time-utilization analytics for better academic monitoring</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219199"/>
            <a:ext cx="10515600" cy="414810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rPr>
              <a:t>https://github.com/Kotesh989/CSE_144-project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Phase1 Completion Update</a:t>
            </a:r>
            <a:endParaRPr lang="en-US" b="0" dirty="0"/>
          </a:p>
        </p:txBody>
      </p:sp>
      <p:sp>
        <p:nvSpPr>
          <p:cNvPr id="3" name="Text Placeholder 2"/>
          <p:cNvSpPr>
            <a:spLocks noGrp="1"/>
          </p:cNvSpPr>
          <p:nvPr>
            <p:ph type="body" idx="1"/>
          </p:nvPr>
        </p:nvSpPr>
        <p:spPr/>
        <p:txBody>
          <a:bodyPr/>
          <a:lstStyle/>
          <a:p>
            <a:pPr marL="76200" indent="0">
              <a:buNone/>
            </a:pPr>
            <a:r>
              <a:rPr lang="en-US" b="1" dirty="0"/>
              <a:t>Content</a:t>
            </a:r>
            <a:endParaRPr lang="en-US" b="1" dirty="0"/>
          </a:p>
          <a:p>
            <a:r>
              <a:rPr lang="en-US" sz="1600" b="1" dirty="0"/>
              <a:t>Project Progress:</a:t>
            </a:r>
            <a:r>
              <a:rPr lang="en-US" sz="1600" dirty="0"/>
              <a:t> 20% completed</a:t>
            </a:r>
            <a:endParaRPr lang="en-US" sz="1600" dirty="0"/>
          </a:p>
          <a:p>
            <a:r>
              <a:rPr lang="en-US" sz="1600" b="1" dirty="0"/>
              <a:t>Major Achievement:</a:t>
            </a:r>
            <a:r>
              <a:rPr lang="en-US" sz="1600" dirty="0"/>
              <a:t> Frontend development finished (HTML, CSS, JavaScript)</a:t>
            </a:r>
            <a:endParaRPr lang="en-US" sz="1600" dirty="0"/>
          </a:p>
          <a:p>
            <a:r>
              <a:rPr lang="en-US" sz="1600" b="1" dirty="0"/>
              <a:t>Milestone Reached:</a:t>
            </a:r>
            <a:r>
              <a:rPr lang="en-US" sz="1600" dirty="0"/>
              <a:t> Phase 1 deliverables submitted successfully</a:t>
            </a:r>
            <a:endParaRPr lang="en-US" sz="1600" dirty="0"/>
          </a:p>
          <a:p>
            <a:r>
              <a:rPr lang="en-US" sz="1600" b="1" dirty="0"/>
              <a:t>On Track:</a:t>
            </a:r>
            <a:r>
              <a:rPr lang="en-US" sz="1600" dirty="0"/>
              <a:t> Progress aligns with planned Gantt chart timeline</a:t>
            </a:r>
            <a:endParaRPr lang="en-US" sz="1600" dirty="0"/>
          </a:p>
          <a:p>
            <a:endParaRPr lang="en-US" sz="1600" dirty="0"/>
          </a:p>
          <a:p>
            <a:pPr marL="76200" indent="0">
              <a:buNone/>
            </a:pPr>
            <a:r>
              <a:rPr lang="en-US" b="1" dirty="0"/>
              <a:t>Phase 2 Preview:</a:t>
            </a:r>
            <a:endParaRPr lang="en-US" dirty="0"/>
          </a:p>
          <a:p>
            <a:r>
              <a:rPr lang="en-US" sz="1600" dirty="0"/>
              <a:t>Backend development (Node.js, Express.js)</a:t>
            </a:r>
            <a:endParaRPr lang="en-US" sz="1600" dirty="0"/>
          </a:p>
          <a:p>
            <a:r>
              <a:rPr lang="en-US" sz="1600" dirty="0"/>
              <a:t>Database setup (MongoDB)</a:t>
            </a:r>
            <a:endParaRPr lang="en-US" sz="1600" dirty="0"/>
          </a:p>
          <a:p>
            <a:pPr marL="76200" indent="0">
              <a:buNone/>
            </a:pPr>
            <a:endParaRPr lang="en-US" sz="1600" dirty="0"/>
          </a:p>
          <a:p>
            <a:pPr marL="7620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6" name="table"/>
          <p:cNvPicPr>
            <a:picLocks noChangeAspect="1"/>
          </p:cNvPicPr>
          <p:nvPr/>
        </p:nvPicPr>
        <p:blipFill>
          <a:blip r:embed="rId1"/>
          <a:stretch>
            <a:fillRect/>
          </a:stretch>
        </p:blipFill>
        <p:spPr>
          <a:xfrm>
            <a:off x="954657" y="966158"/>
            <a:ext cx="10196422" cy="4940061"/>
          </a:xfrm>
          <a:prstGeom prst="rect">
            <a:avLst/>
          </a:prstGeom>
        </p:spPr>
      </p:pic>
      <p:sp>
        <p:nvSpPr>
          <p:cNvPr id="2" name="Rectangle 1"/>
          <p:cNvSpPr/>
          <p:nvPr/>
        </p:nvSpPr>
        <p:spPr>
          <a:xfrm>
            <a:off x="4353463" y="1529751"/>
            <a:ext cx="6740107" cy="198982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Phase1 Completed</a:t>
            </a:r>
            <a:endParaRPr lang="en-US" b="1"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
        <p:nvSpPr>
          <p:cNvPr id="3" name="TextBox 2"/>
          <p:cNvSpPr txBox="1"/>
          <p:nvPr/>
        </p:nvSpPr>
        <p:spPr>
          <a:xfrm>
            <a:off x="711201" y="1190446"/>
            <a:ext cx="10365116" cy="4524315"/>
          </a:xfrm>
          <a:prstGeom prst="rect">
            <a:avLst/>
          </a:prstGeom>
          <a:noFill/>
        </p:spPr>
        <p:txBody>
          <a:bodyPr wrap="square">
            <a:spAutoFit/>
          </a:bodyPr>
          <a:lstStyle/>
          <a:p>
            <a:r>
              <a:rPr lang="en-US" sz="1800" dirty="0"/>
              <a:t>[1] A. Patel and R. Shah, “Design and Development of a Mobile-Based Attendance Management System,” </a:t>
            </a:r>
            <a:r>
              <a:rPr lang="en-US" sz="1800" i="1" dirty="0"/>
              <a:t>International Journal of Computer Applications (IJCA)</a:t>
            </a:r>
            <a:r>
              <a:rPr lang="en-US" sz="1800" dirty="0"/>
              <a:t>, vol. 174, no. 15, pp. 12–17, Apr. 2021.</a:t>
            </a:r>
            <a:endParaRPr lang="en-US" sz="1800" dirty="0"/>
          </a:p>
          <a:p>
            <a:r>
              <a:rPr lang="en-US" sz="1800" dirty="0"/>
              <a:t>[2] S. Kumar and P. Verma, “A Study on Student Time Management Using Smart Applications,” </a:t>
            </a:r>
            <a:r>
              <a:rPr lang="en-US" sz="1800" i="1" dirty="0"/>
              <a:t>Journal of Emerging Technologies and Innovative Research (JETIR)</a:t>
            </a:r>
            <a:r>
              <a:rPr lang="en-US" sz="1800" dirty="0"/>
              <a:t>, vol. 7, no. 6, pp. 245–250, Jun. 2020.</a:t>
            </a:r>
            <a:endParaRPr lang="en-US" sz="1800" dirty="0"/>
          </a:p>
          <a:p>
            <a:r>
              <a:rPr lang="en-US" sz="1800" dirty="0"/>
              <a:t>[3] J. Li, Y. L. Theng, and S. Foo, “Effect of Mobile Applications on Learning and Student Productivity,” </a:t>
            </a:r>
            <a:r>
              <a:rPr lang="en-US" sz="1800" i="1" dirty="0"/>
              <a:t>Journal of Medical Internet Research</a:t>
            </a:r>
            <a:r>
              <a:rPr lang="en-US" sz="1800" dirty="0"/>
              <a:t>, vol. 18, no. 8, pp. 1–10, Aug. 2016.</a:t>
            </a:r>
            <a:endParaRPr lang="en-US" sz="1800" dirty="0"/>
          </a:p>
          <a:p>
            <a:r>
              <a:rPr lang="en-US" sz="1800" dirty="0"/>
              <a:t>[4] R. Singh and A. Kaur, “Web-Based Attendance Monitoring System Using Node.js and MongoDB,” </a:t>
            </a:r>
            <a:r>
              <a:rPr lang="en-US" sz="1800" i="1" dirty="0"/>
              <a:t>International Journal of Advanced Research in Computer Science</a:t>
            </a:r>
            <a:r>
              <a:rPr lang="en-US" sz="1800" dirty="0"/>
              <a:t>, vol. 11, no. 3, pp. 45–50, 2020.</a:t>
            </a:r>
            <a:endParaRPr lang="en-US" sz="1800" dirty="0"/>
          </a:p>
          <a:p>
            <a:r>
              <a:rPr lang="en-US" sz="1800" dirty="0"/>
              <a:t>[5] Ministry of Education, Government of India, </a:t>
            </a:r>
            <a:r>
              <a:rPr lang="en-US" sz="1800" i="1" dirty="0"/>
              <a:t>National Education Policy 2020</a:t>
            </a:r>
            <a:r>
              <a:rPr lang="en-US" sz="1800" dirty="0"/>
              <a:t>, New Delhi, India, 2020.</a:t>
            </a:r>
            <a:endParaRPr lang="en-US" sz="1800" dirty="0"/>
          </a:p>
          <a:p>
            <a:endParaRPr lang="en-US" sz="1800" dirty="0"/>
          </a:p>
          <a:p>
            <a:endParaRPr lang="en-US" sz="1800" dirty="0"/>
          </a:p>
          <a:p>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6996</Words>
  <Application>WPS Presentation</Application>
  <PresentationFormat>Widescreen</PresentationFormat>
  <Paragraphs>180</Paragraphs>
  <Slides>14</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Arial</vt:lpstr>
      <vt:lpstr>Verdana</vt:lpstr>
      <vt:lpstr>Bookman Old Style</vt:lpstr>
      <vt:lpstr>Cambria</vt:lpstr>
      <vt:lpstr>Microsoft YaHei</vt:lpstr>
      <vt:lpstr>Arial Unicode MS</vt:lpstr>
      <vt:lpstr>Bioinformatics</vt:lpstr>
      <vt:lpstr>PROJECT TITLE </vt:lpstr>
      <vt:lpstr>Content</vt:lpstr>
      <vt:lpstr>Problem Statement  </vt:lpstr>
      <vt:lpstr>Objectives</vt:lpstr>
      <vt:lpstr>Background and Related work for title Selection</vt:lpstr>
      <vt:lpstr>Analysis of Problem Statement</vt:lpstr>
      <vt:lpstr>Analysis of Problem Statement (contd...)</vt:lpstr>
      <vt:lpstr>Analysis of Problem Statement (contd...)</vt:lpstr>
      <vt:lpstr>Innovation or Novel Contributions</vt:lpstr>
      <vt:lpstr>Github Link</vt:lpstr>
      <vt:lpstr>Phase1 Completion Update</vt:lpstr>
      <vt:lpstr>Timeline of the Project (Gantt Chart)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Bhagesh Ganiger</cp:lastModifiedBy>
  <cp:revision>45</cp:revision>
  <dcterms:created xsi:type="dcterms:W3CDTF">2026-03-05T05:16:39Z</dcterms:created>
  <dcterms:modified xsi:type="dcterms:W3CDTF">2026-03-05T05:16:56Z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D428A1B1F5624F678AE38EBBC3108C66_12</vt:lpwstr>
  </property>
  <property fmtid="{D5CDD505-2E9C-101B-9397-08002B2CF9AE}" pid="3" name="KSOProductBuildVer">
    <vt:lpwstr>1033-12.2.0.23196</vt:lpwstr>
  </property>
</Properties>
</file>