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2"/>
  </p:notesMasterIdLst>
  <p:sldIdLst>
    <p:sldId id="256" r:id="rId2"/>
    <p:sldId id="257" r:id="rId3"/>
    <p:sldId id="269" r:id="rId4"/>
    <p:sldId id="273" r:id="rId5"/>
    <p:sldId id="287" r:id="rId6"/>
    <p:sldId id="286" r:id="rId7"/>
    <p:sldId id="284" r:id="rId8"/>
    <p:sldId id="270" r:id="rId9"/>
    <p:sldId id="277" r:id="rId10"/>
    <p:sldId id="266" r:id="rId1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F77B4"/>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3" d="100"/>
          <a:sy n="93" d="100"/>
        </p:scale>
        <p:origin x="274" y="67"/>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832441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552911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248305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248305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248305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667165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2155935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8124313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txBody>
          <a:bodyPr/>
          <a:lstStyle/>
          <a:p>
            <a:endParaRPr lang="en-IN"/>
          </a:p>
        </p:txBody>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lvl="0" algn="ctr"/>
            <a:r>
              <a:rPr lang="en-US" sz="2400" dirty="0">
                <a:latin typeface="Cambria" pitchFamily="18" charset="0"/>
                <a:ea typeface="Cambria" pitchFamily="18" charset="0"/>
              </a:rPr>
              <a:t>Smart Curriculum Activity &amp; Attendance App</a:t>
            </a:r>
            <a:endParaRPr sz="2700" dirty="0">
              <a:solidFill>
                <a:schemeClr val="tx1"/>
              </a:solidFill>
              <a:latin typeface="Cambria" pitchFamily="18" charset="0"/>
              <a:ea typeface="Cambria" pitchFamily="18" charset="0"/>
            </a:endParaRP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sz="1800" dirty="0">
                <a:latin typeface="Cambria" panose="02040503050406030204" pitchFamily="18" charset="0"/>
                <a:ea typeface="Cambria" panose="02040503050406030204" pitchFamily="18" charset="0"/>
              </a:rPr>
              <a:t>Batch Number: CSE_144</a:t>
            </a:r>
            <a:endParaRPr sz="1800" dirty="0">
              <a:latin typeface="Cambria" panose="02040503050406030204" pitchFamily="18" charset="0"/>
              <a:ea typeface="Cambria" panose="02040503050406030204" pitchFamily="18" charset="0"/>
            </a:endParaRPr>
          </a:p>
        </p:txBody>
      </p:sp>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a:bodyPr>
          <a:lstStyle/>
          <a:p>
            <a:pPr>
              <a:lnSpc>
                <a:spcPct val="120000"/>
              </a:lnSpc>
              <a:spcBef>
                <a:spcPts val="340"/>
              </a:spcBef>
              <a:buClr>
                <a:srgbClr val="17365D"/>
              </a:buClr>
              <a:buSzPts val="1700"/>
            </a:pPr>
            <a:r>
              <a:rPr lang="en-GB" sz="2400" b="1" dirty="0">
                <a:solidFill>
                  <a:schemeClr val="tx1"/>
                </a:solidFill>
                <a:latin typeface="Cambria" panose="02040503050406030204" pitchFamily="18" charset="0"/>
                <a:ea typeface="Cambria" panose="02040503050406030204" pitchFamily="18" charset="0"/>
                <a:cs typeface="Verdana"/>
                <a:sym typeface="Verdana"/>
              </a:rPr>
              <a:t>Under the Supervision of,</a:t>
            </a:r>
            <a:endParaRPr lang="en-GB" sz="2400" b="1" dirty="0">
              <a:solidFill>
                <a:schemeClr val="tx1"/>
              </a:solidFill>
              <a:latin typeface="Cambria" panose="02040503050406030204" pitchFamily="18" charset="0"/>
              <a:ea typeface="Cambria" panose="02040503050406030204" pitchFamily="18" charset="0"/>
            </a:endParaRPr>
          </a:p>
          <a:p>
            <a:pPr>
              <a:lnSpc>
                <a:spcPct val="120000"/>
              </a:lnSpc>
              <a:spcBef>
                <a:spcPts val="340"/>
              </a:spcBef>
              <a:buClr>
                <a:srgbClr val="17365D"/>
              </a:buClr>
              <a:buSzPts val="1700"/>
            </a:pPr>
            <a:r>
              <a:rPr lang="en-IN" sz="1800" b="1" dirty="0">
                <a:solidFill>
                  <a:schemeClr val="accent1"/>
                </a:solidFill>
                <a:latin typeface="Cambria" pitchFamily="18" charset="0"/>
                <a:ea typeface="Cambria" pitchFamily="18" charset="0"/>
              </a:rPr>
              <a:t>Ms Smita S.P </a:t>
            </a:r>
            <a:r>
              <a:rPr lang="en-GB" sz="1900" b="1" i="0" u="none" strike="noStrike" cap="none" dirty="0">
                <a:solidFill>
                  <a:schemeClr val="tx1"/>
                </a:solidFill>
                <a:latin typeface="Cambria" panose="02040503050406030204" pitchFamily="18" charset="0"/>
                <a:ea typeface="Cambria" panose="02040503050406030204" pitchFamily="18" charset="0"/>
                <a:cs typeface="Verdana"/>
                <a:sym typeface="Verdana"/>
              </a:rPr>
              <a:t>(Assistant Professor)</a:t>
            </a:r>
            <a:endParaRPr sz="1900" dirty="0">
              <a:solidFill>
                <a:schemeClr val="tx1"/>
              </a:solidFill>
              <a:latin typeface="Cambria" panose="02040503050406030204" pitchFamily="18" charset="0"/>
              <a:ea typeface="Cambria" panose="02040503050406030204" pitchFamily="18" charset="0"/>
            </a:endParaRPr>
          </a:p>
          <a:p>
            <a:pPr marL="0" marR="0" lvl="0" indent="0" algn="l" rtl="0">
              <a:lnSpc>
                <a:spcPct val="120000"/>
              </a:lnSpc>
              <a:spcBef>
                <a:spcPts val="340"/>
              </a:spcBef>
              <a:spcAft>
                <a:spcPts val="0"/>
              </a:spcAft>
              <a:buClr>
                <a:srgbClr val="17365D"/>
              </a:buClr>
              <a:buSzPts val="1700"/>
              <a:buFont typeface="Arial"/>
              <a:buNone/>
            </a:pPr>
            <a:r>
              <a:rPr lang="en-GB" sz="1900" b="1" i="0" u="none" strike="noStrike" cap="none" dirty="0">
                <a:solidFill>
                  <a:schemeClr val="tx1"/>
                </a:solidFill>
                <a:latin typeface="Cambria" panose="02040503050406030204" pitchFamily="18" charset="0"/>
                <a:ea typeface="Cambria" panose="02040503050406030204" pitchFamily="18" charset="0"/>
                <a:cs typeface="Verdana"/>
                <a:sym typeface="Verdana"/>
              </a:rPr>
              <a:t>School of Computer Science and Engineering</a:t>
            </a:r>
            <a:endParaRPr sz="1900" dirty="0">
              <a:solidFill>
                <a:schemeClr val="tx1"/>
              </a:solidFill>
              <a:latin typeface="Cambria" panose="02040503050406030204" pitchFamily="18" charset="0"/>
              <a:ea typeface="Cambria" panose="02040503050406030204" pitchFamily="18" charset="0"/>
            </a:endParaRPr>
          </a:p>
          <a:p>
            <a:pPr marL="0" marR="0" lvl="0" indent="0" algn="l" rtl="0">
              <a:lnSpc>
                <a:spcPct val="120000"/>
              </a:lnSpc>
              <a:spcBef>
                <a:spcPts val="340"/>
              </a:spcBef>
              <a:spcAft>
                <a:spcPts val="0"/>
              </a:spcAft>
              <a:buClr>
                <a:srgbClr val="17365D"/>
              </a:buClr>
              <a:buSzPts val="1700"/>
              <a:buFont typeface="Arial"/>
              <a:buNone/>
            </a:pPr>
            <a:r>
              <a:rPr lang="en-GB" sz="1900" b="1" i="0" u="none" strike="noStrike" cap="none" dirty="0">
                <a:solidFill>
                  <a:schemeClr val="tx1"/>
                </a:solidFill>
                <a:latin typeface="Cambria" panose="02040503050406030204" pitchFamily="18" charset="0"/>
                <a:ea typeface="Cambria" panose="02040503050406030204" pitchFamily="18" charset="0"/>
                <a:cs typeface="Verdana"/>
                <a:sym typeface="Verdana"/>
              </a:rPr>
              <a:t>Presidency University</a:t>
            </a:r>
            <a:endParaRPr sz="1900" dirty="0">
              <a:solidFill>
                <a:schemeClr val="tx1"/>
              </a:solidFill>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graphicFrame>
        <p:nvGraphicFramePr>
          <p:cNvPr id="89" name="Google Shape;89;p13"/>
          <p:cNvGraphicFramePr/>
          <p:nvPr>
            <p:extLst>
              <p:ext uri="{D42A27DB-BD31-4B8C-83A1-F6EECF244321}">
                <p14:modId xmlns:p14="http://schemas.microsoft.com/office/powerpoint/2010/main" val="933426892"/>
              </p:ext>
            </p:extLst>
          </p:nvPr>
        </p:nvGraphicFramePr>
        <p:xfrm>
          <a:off x="553347" y="2721840"/>
          <a:ext cx="5418675" cy="1828850"/>
        </p:xfrm>
        <a:graphic>
          <a:graphicData uri="http://schemas.openxmlformats.org/drawingml/2006/table">
            <a:tbl>
              <a:tblPr firstRow="1" bandRow="1">
                <a:noFill/>
                <a:tableStyleId>{57690726-49DA-4552-BDEB-330DD8EA8BD9}</a:tableStyleId>
              </a:tblPr>
              <a:tblGrid>
                <a:gridCol w="2672453">
                  <a:extLst>
                    <a:ext uri="{9D8B030D-6E8A-4147-A177-3AD203B41FA5}">
                      <a16:colId xmlns:a16="http://schemas.microsoft.com/office/drawing/2014/main" val="20000"/>
                    </a:ext>
                  </a:extLst>
                </a:gridCol>
                <a:gridCol w="2746222">
                  <a:extLst>
                    <a:ext uri="{9D8B030D-6E8A-4147-A177-3AD203B41FA5}">
                      <a16:colId xmlns:a16="http://schemas.microsoft.com/office/drawing/2014/main" val="20001"/>
                    </a:ext>
                  </a:extLst>
                </a:gridCol>
              </a:tblGrid>
              <a:tr h="270637">
                <a:tc>
                  <a:txBody>
                    <a:bodyPr/>
                    <a:lstStyle/>
                    <a:p>
                      <a:pPr marL="0" marR="0" lvl="1" indent="0" algn="ctr" rtl="0">
                        <a:spcBef>
                          <a:spcPts val="0"/>
                        </a:spcBef>
                        <a:spcAft>
                          <a:spcPts val="0"/>
                        </a:spcAft>
                        <a:buNone/>
                      </a:pPr>
                      <a:r>
                        <a:rPr lang="en-GB" sz="1800" b="1" u="none" strike="noStrike" cap="none" dirty="0">
                          <a:solidFill>
                            <a:srgbClr val="17365D"/>
                          </a:solidFill>
                        </a:rPr>
                        <a:t>Roll Number</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GB" sz="1800" b="1" u="none" strike="noStrike" cap="none" dirty="0">
                          <a:solidFill>
                            <a:srgbClr val="17365D"/>
                          </a:solidFill>
                        </a:rPr>
                        <a:t>Student Name</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270637">
                <a:tc>
                  <a:txBody>
                    <a:bodyPr/>
                    <a:lstStyle/>
                    <a:p>
                      <a:pPr marL="0" marR="0" lvl="0" indent="0" algn="ctr" rtl="0">
                        <a:spcBef>
                          <a:spcPts val="0"/>
                        </a:spcBef>
                        <a:spcAft>
                          <a:spcPts val="0"/>
                        </a:spcAft>
                        <a:buFont typeface="+mj-lt"/>
                        <a:buNone/>
                      </a:pPr>
                      <a:r>
                        <a:rPr lang="en-IN" sz="1800" b="0" u="none" strike="noStrike" cap="none" dirty="0">
                          <a:latin typeface="Cambria" pitchFamily="18" charset="0"/>
                          <a:ea typeface="Cambria" pitchFamily="18" charset="0"/>
                        </a:rPr>
                        <a:t>20221CSE0559</a:t>
                      </a:r>
                      <a:endParaRPr sz="1800" b="0" u="none" strike="noStrike" cap="none" dirty="0">
                        <a:latin typeface="Cambria" pitchFamily="18" charset="0"/>
                        <a:ea typeface="Cambria"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IN" sz="1800" b="0" u="none" strike="noStrike" cap="none" dirty="0">
                          <a:latin typeface="Cambria" pitchFamily="18" charset="0"/>
                          <a:ea typeface="Cambria" pitchFamily="18" charset="0"/>
                        </a:rPr>
                        <a:t>Sharanegouda Malipatil</a:t>
                      </a:r>
                      <a:endParaRPr sz="1800" b="0" u="none" strike="noStrike" cap="none" dirty="0">
                        <a:latin typeface="Cambria" pitchFamily="18" charset="0"/>
                        <a:ea typeface="Cambria"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270637">
                <a:tc>
                  <a:txBody>
                    <a:bodyPr/>
                    <a:lstStyle/>
                    <a:p>
                      <a:pPr marL="0" marR="0" lvl="0" indent="0" algn="ctr" rtl="0">
                        <a:spcBef>
                          <a:spcPts val="0"/>
                        </a:spcBef>
                        <a:spcAft>
                          <a:spcPts val="0"/>
                        </a:spcAft>
                        <a:buNone/>
                      </a:pPr>
                      <a:r>
                        <a:rPr lang="en-IN" sz="1800" b="0" u="none" strike="noStrike" cap="none" dirty="0">
                          <a:latin typeface="Cambria" pitchFamily="18" charset="0"/>
                          <a:ea typeface="Cambria" pitchFamily="18" charset="0"/>
                        </a:rPr>
                        <a:t>20221CSE0582</a:t>
                      </a:r>
                      <a:endParaRPr sz="1800" b="0" u="none" strike="noStrike" cap="none" dirty="0">
                        <a:latin typeface="Cambria" pitchFamily="18" charset="0"/>
                        <a:ea typeface="Cambria"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b="0" u="none" strike="noStrike" cap="none" dirty="0">
                          <a:latin typeface="Cambria" pitchFamily="18" charset="0"/>
                          <a:ea typeface="Cambria" pitchFamily="18" charset="0"/>
                        </a:rPr>
                        <a:t>B</a:t>
                      </a:r>
                      <a:r>
                        <a:rPr lang="en-IN" sz="1800" b="0" u="none" strike="noStrike" cap="none" dirty="0">
                          <a:latin typeface="Cambria" pitchFamily="18" charset="0"/>
                          <a:ea typeface="Cambria" pitchFamily="18" charset="0"/>
                        </a:rPr>
                        <a:t>hagesh</a:t>
                      </a:r>
                      <a:endParaRPr sz="1800" b="0" u="none" strike="noStrike" cap="none" dirty="0">
                        <a:latin typeface="Cambria" pitchFamily="18" charset="0"/>
                        <a:ea typeface="Cambria"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270637">
                <a:tc>
                  <a:txBody>
                    <a:bodyPr/>
                    <a:lstStyle/>
                    <a:p>
                      <a:pPr marL="0" marR="0" lvl="0" indent="0" algn="ctr" rtl="0">
                        <a:spcBef>
                          <a:spcPts val="0"/>
                        </a:spcBef>
                        <a:spcAft>
                          <a:spcPts val="0"/>
                        </a:spcAft>
                        <a:buNone/>
                      </a:pPr>
                      <a:r>
                        <a:rPr lang="en-IN" sz="1800" b="0" u="none" strike="noStrike" cap="none" dirty="0">
                          <a:latin typeface="Cambria" pitchFamily="18" charset="0"/>
                          <a:ea typeface="Cambria" pitchFamily="18" charset="0"/>
                        </a:rPr>
                        <a:t>20221CSE0593</a:t>
                      </a:r>
                      <a:endParaRPr sz="1800" b="0" u="none" strike="noStrike" cap="none" dirty="0">
                        <a:latin typeface="Cambria" pitchFamily="18" charset="0"/>
                        <a:ea typeface="Cambria"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b="0" u="none" strike="noStrike" cap="none" dirty="0">
                          <a:latin typeface="Cambria" pitchFamily="18" charset="0"/>
                          <a:ea typeface="Cambria" pitchFamily="18" charset="0"/>
                        </a:rPr>
                        <a:t>K</a:t>
                      </a:r>
                      <a:r>
                        <a:rPr lang="en-IN" sz="1800" b="0" u="none" strike="noStrike" cap="none" dirty="0">
                          <a:latin typeface="Cambria" pitchFamily="18" charset="0"/>
                          <a:ea typeface="Cambria" pitchFamily="18" charset="0"/>
                        </a:rPr>
                        <a:t>otesh N B</a:t>
                      </a:r>
                      <a:endParaRPr sz="1800" b="0" u="none" strike="noStrike" cap="none" dirty="0">
                        <a:latin typeface="Cambria" pitchFamily="18" charset="0"/>
                        <a:ea typeface="Cambria" pitchFamily="18" charset="0"/>
                      </a:endParaRPr>
                    </a:p>
                  </a:txBody>
                  <a:tcPr marL="91450" marR="91450" marT="45725" marB="45725" anchor="ctr">
                    <a:lnL w="9525" cap="flat" cmpd="sng" algn="ctr">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270637">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lgn="ctr">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a:buNone/>
            </a:pPr>
            <a:r>
              <a:rPr lang="en-GB" sz="1800" b="1" dirty="0">
                <a:solidFill>
                  <a:srgbClr val="17365D"/>
                </a:solidFill>
                <a:latin typeface="Cambria" panose="02040503050406030204" pitchFamily="18" charset="0"/>
                <a:ea typeface="Cambria" panose="02040503050406030204" pitchFamily="18" charset="0"/>
                <a:cs typeface="Verdana"/>
                <a:sym typeface="Verdana"/>
              </a:rPr>
              <a:t>CSE7302-</a:t>
            </a: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 </a:t>
            </a:r>
            <a:r>
              <a:rPr lang="en-GB" sz="1800" b="1" dirty="0">
                <a:solidFill>
                  <a:srgbClr val="17365D"/>
                </a:solidFill>
                <a:latin typeface="Cambria" panose="02040503050406030204" pitchFamily="18" charset="0"/>
                <a:ea typeface="Cambria" panose="02040503050406030204" pitchFamily="18" charset="0"/>
                <a:cs typeface="Verdana"/>
                <a:sym typeface="Verdana"/>
              </a:rPr>
              <a:t>University</a:t>
            </a: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 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Review-</a:t>
            </a:r>
            <a:r>
              <a:rPr lang="en-GB" sz="1800" b="1" dirty="0">
                <a:solidFill>
                  <a:srgbClr val="17365D"/>
                </a:solidFill>
                <a:latin typeface="Cambria" panose="02040503050406030204" pitchFamily="18" charset="0"/>
                <a:ea typeface="Cambria" panose="02040503050406030204" pitchFamily="18" charset="0"/>
                <a:cs typeface="Verdana"/>
                <a:sym typeface="Verdana"/>
              </a:rPr>
              <a:t>1</a:t>
            </a:r>
            <a:endParaRPr sz="18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742384" y="4533900"/>
            <a:ext cx="11507531"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1800" b="1" i="0" u="none" strike="noStrike" cap="none" dirty="0">
                <a:solidFill>
                  <a:schemeClr val="accent1"/>
                </a:solidFill>
                <a:latin typeface="Cambria" pitchFamily="18" charset="0"/>
                <a:ea typeface="Cambria" pitchFamily="18" charset="0"/>
                <a:cs typeface="Verdana"/>
                <a:sym typeface="Verdana"/>
              </a:rPr>
              <a:t>Name of the Program: </a:t>
            </a:r>
            <a:r>
              <a:rPr lang="en-US" sz="1800" b="1" i="0" u="none" strike="noStrike" cap="none" dirty="0">
                <a:solidFill>
                  <a:schemeClr val="tx1"/>
                </a:solidFill>
                <a:latin typeface="Cambria" pitchFamily="18" charset="0"/>
                <a:ea typeface="Cambria" pitchFamily="18" charset="0"/>
                <a:cs typeface="Verdana"/>
                <a:sym typeface="Verdana"/>
              </a:rPr>
              <a:t>B. Tech (CSE)</a:t>
            </a:r>
          </a:p>
          <a:p>
            <a:pPr lvl="0">
              <a:buClr>
                <a:srgbClr val="17365D"/>
              </a:buClr>
              <a:buSzPct val="100000"/>
            </a:pPr>
            <a:r>
              <a:rPr lang="en-US" sz="1800" b="1" dirty="0">
                <a:solidFill>
                  <a:schemeClr val="accent1"/>
                </a:solidFill>
                <a:latin typeface="Cambria" pitchFamily="18" charset="0"/>
                <a:ea typeface="Cambria" pitchFamily="18" charset="0"/>
                <a:cs typeface="Verdana"/>
                <a:sym typeface="Verdana"/>
              </a:rPr>
              <a:t>Name of the HoD: </a:t>
            </a:r>
            <a:r>
              <a:rPr lang="en-US" sz="1800" b="1" dirty="0">
                <a:latin typeface="Cambria" pitchFamily="18" charset="0"/>
                <a:ea typeface="Cambria" pitchFamily="18" charset="0"/>
              </a:rPr>
              <a:t>Dr. Asif Mohammed</a:t>
            </a:r>
            <a:endParaRPr lang="en-US" sz="1800" b="1" dirty="0">
              <a:solidFill>
                <a:srgbClr val="FF0000"/>
              </a:solidFill>
              <a:latin typeface="Cambria" pitchFamily="18" charset="0"/>
              <a:ea typeface="Cambria" pitchFamily="18" charset="0"/>
              <a:cs typeface="Verdana"/>
              <a:sym typeface="Verdana"/>
            </a:endParaRPr>
          </a:p>
          <a:p>
            <a:pPr lvl="0">
              <a:buClr>
                <a:srgbClr val="17365D"/>
              </a:buClr>
              <a:buSzPct val="100000"/>
            </a:pPr>
            <a:r>
              <a:rPr lang="en-US" sz="1800" b="1" i="0" u="none" strike="noStrike" cap="none" dirty="0">
                <a:solidFill>
                  <a:schemeClr val="accent1"/>
                </a:solidFill>
                <a:latin typeface="Cambria" pitchFamily="18" charset="0"/>
                <a:ea typeface="Cambria" pitchFamily="18" charset="0"/>
                <a:cs typeface="Verdana"/>
                <a:sym typeface="Verdana"/>
              </a:rPr>
              <a:t>Name of the Program Project Coordinator: </a:t>
            </a:r>
            <a:r>
              <a:rPr lang="en-US" sz="1800" b="1" dirty="0">
                <a:latin typeface="Cambria" pitchFamily="18" charset="0"/>
                <a:ea typeface="Cambria" pitchFamily="18" charset="0"/>
              </a:rPr>
              <a:t>Mr. Sakthi S</a:t>
            </a:r>
            <a:endParaRPr lang="en-US" sz="1800" b="1" dirty="0">
              <a:solidFill>
                <a:srgbClr val="FF0000"/>
              </a:solidFill>
              <a:latin typeface="Cambria" pitchFamily="18" charset="0"/>
              <a:ea typeface="Cambria" pitchFamily="18" charset="0"/>
              <a:cs typeface="Verdana"/>
              <a:sym typeface="Verdana"/>
            </a:endParaRPr>
          </a:p>
          <a:p>
            <a:pPr lvl="0">
              <a:buClr>
                <a:srgbClr val="17365D"/>
              </a:buClr>
              <a:buSzPct val="100000"/>
            </a:pPr>
            <a:r>
              <a:rPr lang="en-US" sz="1800" b="1" dirty="0">
                <a:solidFill>
                  <a:schemeClr val="accent1"/>
                </a:solidFill>
                <a:latin typeface="Cambria" pitchFamily="18" charset="0"/>
                <a:ea typeface="Cambria" pitchFamily="18" charset="0"/>
                <a:cs typeface="Verdana"/>
                <a:sym typeface="Verdana"/>
              </a:rPr>
              <a:t>Name of the School Project Coordinators: </a:t>
            </a:r>
            <a:r>
              <a:rPr lang="en-US" sz="1800" b="1" i="0" u="none" strike="noStrike" cap="none" dirty="0">
                <a:solidFill>
                  <a:schemeClr val="tx1"/>
                </a:solidFill>
                <a:latin typeface="Cambria" pitchFamily="18" charset="0"/>
                <a:ea typeface="Cambria" pitchFamily="18" charset="0"/>
                <a:cs typeface="Verdana"/>
                <a:sym typeface="Verdana"/>
              </a:rPr>
              <a:t>Dr. Sampath A K , Dr. Geetha A </a:t>
            </a:r>
            <a:endParaRPr sz="1800" b="1" i="0" u="none" strike="noStrike" cap="none" dirty="0">
              <a:solidFill>
                <a:schemeClr val="tx1"/>
              </a:solidFill>
              <a:latin typeface="Cambria" pitchFamily="18" charset="0"/>
              <a:ea typeface="Cambria" pitchFamily="18" charset="0"/>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80532" y="1151467"/>
            <a:ext cx="10566401" cy="4826000"/>
          </a:xfrm>
          <a:prstGeom prst="rect">
            <a:avLst/>
          </a:prstGeom>
          <a:noFill/>
          <a:ln>
            <a:noFill/>
          </a:ln>
        </p:spPr>
        <p:txBody>
          <a:bodyPr spcFirstLastPara="1" wrap="square" lIns="91425" tIns="45700" rIns="91425" bIns="45700" numCol="2" anchor="t" anchorCtr="0">
            <a:noAutofit/>
          </a:bodyPr>
          <a:lstStyle/>
          <a:p>
            <a:pPr marL="432000" fontAlgn="base">
              <a:lnSpc>
                <a:spcPct val="150000"/>
              </a:lnSpc>
              <a:spcBef>
                <a:spcPts val="150"/>
              </a:spcBef>
            </a:pPr>
            <a:r>
              <a:rPr lang="en-US" dirty="0">
                <a:latin typeface="Cambria" pitchFamily="18" charset="0"/>
                <a:ea typeface="Cambria" pitchFamily="18" charset="0"/>
              </a:rPr>
              <a:t>Problem Statement</a:t>
            </a:r>
          </a:p>
          <a:p>
            <a:pPr marL="432000" fontAlgn="base">
              <a:lnSpc>
                <a:spcPct val="150000"/>
              </a:lnSpc>
              <a:spcBef>
                <a:spcPts val="150"/>
              </a:spcBef>
            </a:pPr>
            <a:r>
              <a:rPr lang="en-US" dirty="0">
                <a:latin typeface="Cambria" pitchFamily="18" charset="0"/>
                <a:ea typeface="Cambria" pitchFamily="18" charset="0"/>
              </a:rPr>
              <a:t>Objectives</a:t>
            </a:r>
          </a:p>
          <a:p>
            <a:pPr marL="432000" fontAlgn="base">
              <a:lnSpc>
                <a:spcPct val="150000"/>
              </a:lnSpc>
              <a:spcBef>
                <a:spcPts val="150"/>
              </a:spcBef>
            </a:pPr>
            <a:r>
              <a:rPr lang="en-US" dirty="0">
                <a:latin typeface="Cambria" pitchFamily="18" charset="0"/>
                <a:ea typeface="Cambria" pitchFamily="18" charset="0"/>
              </a:rPr>
              <a:t>Background and Related work for title Selection</a:t>
            </a:r>
          </a:p>
          <a:p>
            <a:pPr marL="432000" fontAlgn="base">
              <a:lnSpc>
                <a:spcPct val="150000"/>
              </a:lnSpc>
              <a:spcBef>
                <a:spcPts val="150"/>
              </a:spcBef>
            </a:pPr>
            <a:r>
              <a:rPr lang="en-US" dirty="0">
                <a:latin typeface="Cambria" pitchFamily="18" charset="0"/>
                <a:ea typeface="Cambria" pitchFamily="18" charset="0"/>
              </a:rPr>
              <a:t>Innovation or Novel Contributions</a:t>
            </a:r>
          </a:p>
          <a:p>
            <a:pPr marL="432000" fontAlgn="base">
              <a:lnSpc>
                <a:spcPct val="150000"/>
              </a:lnSpc>
              <a:spcBef>
                <a:spcPts val="150"/>
              </a:spcBef>
            </a:pPr>
            <a:r>
              <a:rPr lang="en-US" dirty="0">
                <a:latin typeface="Cambria" pitchFamily="18" charset="0"/>
                <a:ea typeface="Cambria" pitchFamily="18" charset="0"/>
              </a:rPr>
              <a:t>Git-hub Link</a:t>
            </a:r>
          </a:p>
          <a:p>
            <a:pPr marL="432000" fontAlgn="base">
              <a:lnSpc>
                <a:spcPct val="150000"/>
              </a:lnSpc>
              <a:spcBef>
                <a:spcPts val="150"/>
              </a:spcBef>
            </a:pPr>
            <a:r>
              <a:rPr lang="en-US" dirty="0">
                <a:latin typeface="Cambria" pitchFamily="18" charset="0"/>
                <a:ea typeface="Cambria" pitchFamily="18" charset="0"/>
              </a:rPr>
              <a:t>Timeline of the Project</a:t>
            </a:r>
          </a:p>
          <a:p>
            <a:pPr marL="432000" fontAlgn="base">
              <a:lnSpc>
                <a:spcPct val="150000"/>
              </a:lnSpc>
              <a:spcBef>
                <a:spcPts val="150"/>
              </a:spcBef>
            </a:pPr>
            <a:r>
              <a:rPr lang="en-US" dirty="0">
                <a:latin typeface="Cambria" pitchFamily="18" charset="0"/>
                <a:ea typeface="Cambria" pitchFamily="18" charset="0"/>
              </a:rPr>
              <a:t>References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939800" y="452438"/>
            <a:ext cx="10668000" cy="487500"/>
          </a:xfrm>
          <a:prstGeom prst="rect">
            <a:avLst/>
          </a:prstGeom>
          <a:noFill/>
          <a:ln>
            <a:noFill/>
          </a:ln>
        </p:spPr>
        <p:txBody>
          <a:bodyPr spcFirstLastPara="1" wrap="square" lIns="91425" tIns="45700" rIns="91425" bIns="45700" anchor="ctr" anchorCtr="0">
            <a:noAutofit/>
          </a:bodyPr>
          <a:lstStyle/>
          <a:p>
            <a:r>
              <a:rPr lang="en-US" dirty="0">
                <a:latin typeface="Cambria" pitchFamily="18" charset="0"/>
                <a:ea typeface="Cambria" pitchFamily="18" charset="0"/>
              </a:rPr>
              <a:t>Problem Statement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406398" y="1032936"/>
            <a:ext cx="10668000" cy="4953000"/>
          </a:xfrm>
          <a:prstGeom prst="rect">
            <a:avLst/>
          </a:prstGeom>
          <a:noFill/>
          <a:ln>
            <a:noFill/>
          </a:ln>
        </p:spPr>
        <p:txBody>
          <a:bodyPr spcFirstLastPara="1" wrap="square" lIns="91425" tIns="45700" rIns="91425" bIns="45700" anchor="t" anchorCtr="0">
            <a:normAutofit/>
          </a:bodyPr>
          <a:lstStyle/>
          <a:p>
            <a:pPr algn="just">
              <a:lnSpc>
                <a:spcPct val="150000"/>
              </a:lnSpc>
              <a:buNone/>
            </a:pPr>
            <a:r>
              <a:rPr lang="en-US" sz="2200" dirty="0">
                <a:latin typeface="Cambria" pitchFamily="18" charset="0"/>
                <a:ea typeface="Cambria" pitchFamily="18" charset="0"/>
              </a:rPr>
              <a:t>	Many educational institutions still rely on manual or basic digital attendance systems that consume class time and are prone to errors. Teachers spend valuable instructional time marking attendance instead of teaching. At the same time, students often misuse free periods due to the lack of structured academic or career guidance. Existing systems do not integrate attendance, timetable management, and personal planning. This creates inefficiency in administration and reduced student productivity. A smart, integrated solution is required to automate attendance and guide students toward productive use of their academic time.</a:t>
            </a:r>
          </a:p>
          <a:p>
            <a:pPr>
              <a:lnSpc>
                <a:spcPct val="150000"/>
              </a:lnSpc>
              <a:buNone/>
            </a:pPr>
            <a:endParaRPr lang="en-US" sz="2200" dirty="0">
              <a:latin typeface="Cambria" pitchFamily="18" charset="0"/>
              <a:ea typeface="Cambria" pitchFamily="18" charset="0"/>
            </a:endParaRPr>
          </a:p>
        </p:txBody>
      </p:sp>
    </p:spTree>
    <p:extLst>
      <p:ext uri="{BB962C8B-B14F-4D97-AF65-F5344CB8AC3E}">
        <p14:creationId xmlns:p14="http://schemas.microsoft.com/office/powerpoint/2010/main" val="21434518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Objectives</a:t>
            </a:r>
          </a:p>
        </p:txBody>
      </p:sp>
      <p:sp>
        <p:nvSpPr>
          <p:cNvPr id="11" name="Text Placeholder 10">
            <a:extLst>
              <a:ext uri="{FF2B5EF4-FFF2-40B4-BE49-F238E27FC236}">
                <a16:creationId xmlns:a16="http://schemas.microsoft.com/office/drawing/2014/main" id="{104EEC00-1A1A-EAFE-529A-18A52C9C43FA}"/>
              </a:ext>
            </a:extLst>
          </p:cNvPr>
          <p:cNvSpPr>
            <a:spLocks noGrp="1" noChangeArrowheads="1"/>
          </p:cNvSpPr>
          <p:nvPr>
            <p:ph type="body" idx="1"/>
          </p:nvPr>
        </p:nvSpPr>
        <p:spPr bwMode="auto">
          <a:xfrm>
            <a:off x="783431" y="1196999"/>
            <a:ext cx="10726737"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To develop a smart attendance and curriculum activity application for educational institutions.</a:t>
            </a:r>
          </a:p>
          <a:p>
            <a:pPr marL="0" lvl="0" indent="0" algn="just" eaLnBrk="0" fontAlgn="base" hangingPunct="0">
              <a:spcBef>
                <a:spcPct val="0"/>
              </a:spcBef>
              <a:spcAft>
                <a:spcPct val="0"/>
              </a:spcAft>
              <a:buClrTx/>
              <a:buSzTx/>
              <a:buFontTx/>
              <a:buChar char="•"/>
            </a:pPr>
            <a:r>
              <a:rPr lang="en-US" dirty="0">
                <a:latin typeface="Cambria" panose="02040503050406030204" pitchFamily="18" charset="0"/>
                <a:ea typeface="Cambria" panose="02040503050406030204" pitchFamily="18" charset="0"/>
              </a:rPr>
              <a:t>To automate attendance using digital methods and reduce manual effort, errors, and time consumption for teachers.</a:t>
            </a:r>
          </a:p>
          <a:p>
            <a:pPr marL="0" lvl="0" indent="0" algn="just" eaLnBrk="0" fontAlgn="base" hangingPunct="0">
              <a:spcBef>
                <a:spcPct val="0"/>
              </a:spcBef>
              <a:spcAft>
                <a:spcPct val="0"/>
              </a:spcAft>
              <a:buClrTx/>
              <a:buSzTx/>
              <a:buFontTx/>
              <a:buChar char="•"/>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To help students utilize free periods in a productive and goal-oriented manner.</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To generate a structured daily routine based on timetable and student goals.</a:t>
            </a:r>
          </a:p>
          <a:p>
            <a:pPr marL="0" lvl="0" indent="0" algn="just" eaLnBrk="0" fontAlgn="base" hangingPunct="0">
              <a:spcBef>
                <a:spcPct val="0"/>
              </a:spcBef>
              <a:spcAft>
                <a:spcPct val="0"/>
              </a:spcAft>
              <a:buClrTx/>
              <a:buSzTx/>
              <a:buFontTx/>
              <a:buChar char="•"/>
            </a:pPr>
            <a:r>
              <a:rPr lang="en-US" dirty="0">
                <a:latin typeface="Cambria" panose="02040503050406030204" pitchFamily="18" charset="0"/>
                <a:ea typeface="Cambria" panose="02040503050406030204" pitchFamily="18" charset="0"/>
              </a:rPr>
              <a:t>To improve student engagement, discipline, and time management by promoting organized and consistent academic habits.</a:t>
            </a:r>
            <a:endPar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lvl="0" indent="0" algn="just" eaLnBrk="0" fontAlgn="base" hangingPunct="0">
              <a:spcBef>
                <a:spcPct val="0"/>
              </a:spcBef>
              <a:spcAft>
                <a:spcPct val="0"/>
              </a:spcAft>
              <a:buClrTx/>
              <a:buSzTx/>
              <a:buFontTx/>
              <a:buChar char="•"/>
            </a:pPr>
            <a:r>
              <a:rPr lang="en-US" dirty="0">
                <a:latin typeface="Cambria" panose="02040503050406030204" pitchFamily="18" charset="0"/>
                <a:ea typeface="Cambria" panose="02040503050406030204" pitchFamily="18" charset="0"/>
              </a:rPr>
              <a:t>To provide an easy-to-use, reliable system that can be efficiently used by both students and faculty members.</a:t>
            </a:r>
            <a:endPar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0308161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Background and Related work for title Selection</a:t>
            </a:r>
          </a:p>
        </p:txBody>
      </p:sp>
      <p:sp>
        <p:nvSpPr>
          <p:cNvPr id="115" name="Google Shape;115;p17"/>
          <p:cNvSpPr txBox="1">
            <a:spLocks noGrp="1"/>
          </p:cNvSpPr>
          <p:nvPr>
            <p:ph type="body" idx="1"/>
          </p:nvPr>
        </p:nvSpPr>
        <p:spPr>
          <a:xfrm>
            <a:off x="491066" y="967606"/>
            <a:ext cx="10621727" cy="3836406"/>
          </a:xfrm>
          <a:prstGeom prst="rect">
            <a:avLst/>
          </a:prstGeom>
          <a:noFill/>
          <a:ln>
            <a:noFill/>
          </a:ln>
        </p:spPr>
        <p:txBody>
          <a:bodyPr spcFirstLastPara="1" wrap="square" lIns="91425" tIns="45700" rIns="91425" bIns="45700" anchor="t" anchorCtr="0">
            <a:noAutofit/>
          </a:bodyPr>
          <a:lstStyle/>
          <a:p>
            <a:pPr algn="just">
              <a:lnSpc>
                <a:spcPct val="150000"/>
              </a:lnSpc>
              <a:spcBef>
                <a:spcPts val="100"/>
              </a:spcBef>
              <a:buNone/>
            </a:pPr>
            <a:r>
              <a:rPr lang="en-US" sz="2300" dirty="0">
                <a:latin typeface="Cambria" panose="02040503050406030204" pitchFamily="18" charset="0"/>
                <a:ea typeface="Cambria" panose="02040503050406030204" pitchFamily="18" charset="0"/>
              </a:rPr>
              <a:t>	The use of digital tools in education has increased rapidly, especially for attendance and timetable management. However, most existing systems focus only on attendance recording and lack features that support student productivity during free hours. Studies show that structured planning and guided activities improve learning outcomes and personal development. Current solutions do not combine attendance automation with personalized activity suggestions. This highlights the need for a smart application that integrates attendance tracking with curriculum-based activity planning, leading to the selection of the title </a:t>
            </a:r>
            <a:r>
              <a:rPr lang="en-US" sz="2300" i="1" dirty="0">
                <a:latin typeface="Cambria" panose="02040503050406030204" pitchFamily="18" charset="0"/>
                <a:ea typeface="Cambria" panose="02040503050406030204" pitchFamily="18" charset="0"/>
              </a:rPr>
              <a:t>Smart Curriculum Activity &amp; Attendance App</a:t>
            </a:r>
            <a:r>
              <a:rPr lang="en-US" sz="2300" dirty="0">
                <a:latin typeface="Cambria" panose="02040503050406030204" pitchFamily="18" charset="0"/>
                <a:ea typeface="Cambria" panose="02040503050406030204" pitchFamily="18" charset="0"/>
              </a:rPr>
              <a:t>.</a:t>
            </a:r>
          </a:p>
        </p:txBody>
      </p:sp>
    </p:spTree>
    <p:extLst>
      <p:ext uri="{BB962C8B-B14F-4D97-AF65-F5344CB8AC3E}">
        <p14:creationId xmlns:p14="http://schemas.microsoft.com/office/powerpoint/2010/main" val="10308161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a:lnSpc>
                <a:spcPct val="200000"/>
              </a:lnSpc>
            </a:pPr>
            <a:r>
              <a:rPr lang="en-US" dirty="0">
                <a:latin typeface="Cambria" panose="02040503050406030204" pitchFamily="18" charset="0"/>
                <a:ea typeface="Cambria" panose="02040503050406030204" pitchFamily="18" charset="0"/>
              </a:rPr>
              <a:t>Innovation or Novel Contributions</a:t>
            </a:r>
          </a:p>
        </p:txBody>
      </p:sp>
      <p:sp>
        <p:nvSpPr>
          <p:cNvPr id="4" name="Text Placeholder 3">
            <a:extLst>
              <a:ext uri="{FF2B5EF4-FFF2-40B4-BE49-F238E27FC236}">
                <a16:creationId xmlns:a16="http://schemas.microsoft.com/office/drawing/2014/main" id="{E4E231EE-7CB3-E82A-54F7-32BD688D4242}"/>
              </a:ext>
            </a:extLst>
          </p:cNvPr>
          <p:cNvSpPr>
            <a:spLocks noGrp="1" noChangeArrowheads="1"/>
          </p:cNvSpPr>
          <p:nvPr>
            <p:ph type="body" idx="1"/>
          </p:nvPr>
        </p:nvSpPr>
        <p:spPr bwMode="auto">
          <a:xfrm>
            <a:off x="812800" y="1335073"/>
            <a:ext cx="8866530"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Integrated system combining attendance and activity planning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Automated attendance using smart technologies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Personalized activity suggestions during free periods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Daily routine generation based on timetable and goals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Minimal infrastructure requirement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Simple and user-friendly interface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Real-time attendance visibility for students and teachers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Improves student discipline and productive use of academic time</a:t>
            </a:r>
          </a:p>
        </p:txBody>
      </p:sp>
    </p:spTree>
    <p:extLst>
      <p:ext uri="{BB962C8B-B14F-4D97-AF65-F5344CB8AC3E}">
        <p14:creationId xmlns:p14="http://schemas.microsoft.com/office/powerpoint/2010/main" val="10308161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Github Link</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p:cNvSpPr txBox="1">
            <a:spLocks/>
          </p:cNvSpPr>
          <p:nvPr/>
        </p:nvSpPr>
        <p:spPr>
          <a:xfrm>
            <a:off x="812800" y="114300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r>
              <a:rPr lang="en-US" dirty="0">
                <a:latin typeface="Cambria" panose="02040503050406030204" pitchFamily="18" charset="0"/>
                <a:ea typeface="Cambria" panose="02040503050406030204" pitchFamily="18" charset="0"/>
              </a:rPr>
              <a:t>The Github link provided should have public access permission.</a:t>
            </a: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None/>
            </a:pPr>
            <a:r>
              <a:rPr lang="en-US" b="1" dirty="0">
                <a:solidFill>
                  <a:schemeClr val="accent2">
                    <a:lumMod val="75000"/>
                  </a:schemeClr>
                </a:solidFill>
                <a:latin typeface="Cambria" panose="02040503050406030204" pitchFamily="18" charset="0"/>
                <a:ea typeface="Cambria" panose="02040503050406030204" pitchFamily="18" charset="0"/>
              </a:rPr>
              <a:t>https://github.com/Kotesh989/CSE_144-project</a:t>
            </a: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563573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pic>
        <p:nvPicPr>
          <p:cNvPr id="5" name="Picture 4" descr="output.png"/>
          <p:cNvPicPr>
            <a:picLocks noChangeAspect="1"/>
          </p:cNvPicPr>
          <p:nvPr/>
        </p:nvPicPr>
        <p:blipFill>
          <a:blip r:embed="rId3"/>
          <a:stretch>
            <a:fillRect/>
          </a:stretch>
        </p:blipFill>
        <p:spPr>
          <a:xfrm>
            <a:off x="1108614" y="2018450"/>
            <a:ext cx="9957837" cy="3566167"/>
          </a:xfrm>
          <a:prstGeom prst="rect">
            <a:avLst/>
          </a:prstGeom>
        </p:spPr>
      </p:pic>
      <p:sp>
        <p:nvSpPr>
          <p:cNvPr id="7" name="TextBox 6"/>
          <p:cNvSpPr txBox="1"/>
          <p:nvPr/>
        </p:nvSpPr>
        <p:spPr>
          <a:xfrm>
            <a:off x="3625960" y="1205628"/>
            <a:ext cx="4923143" cy="369332"/>
          </a:xfrm>
          <a:prstGeom prst="rect">
            <a:avLst/>
          </a:prstGeom>
          <a:noFill/>
        </p:spPr>
        <p:txBody>
          <a:bodyPr wrap="none" rtlCol="0">
            <a:spAutoFit/>
          </a:bodyPr>
          <a:lstStyle/>
          <a:p>
            <a:r>
              <a:rPr lang="en-US" sz="1800" b="1" dirty="0">
                <a:solidFill>
                  <a:schemeClr val="accent1"/>
                </a:solidFill>
                <a:latin typeface="Cambria" pitchFamily="18" charset="0"/>
                <a:ea typeface="Cambria" pitchFamily="18" charset="0"/>
              </a:rPr>
              <a:t>Smart Curriculum Activity &amp; Attendance App</a:t>
            </a:r>
            <a:endParaRPr lang="en-US" sz="1700" b="1" dirty="0">
              <a:solidFill>
                <a:schemeClr val="accent1"/>
              </a:solidFill>
            </a:endParaRPr>
          </a:p>
        </p:txBody>
      </p:sp>
      <p:sp>
        <p:nvSpPr>
          <p:cNvPr id="2" name="Rectangle 1">
            <a:extLst>
              <a:ext uri="{FF2B5EF4-FFF2-40B4-BE49-F238E27FC236}">
                <a16:creationId xmlns:a16="http://schemas.microsoft.com/office/drawing/2014/main" id="{1DE05184-7396-35B5-51A8-D8C139A0C287}"/>
              </a:ext>
            </a:extLst>
          </p:cNvPr>
          <p:cNvSpPr/>
          <p:nvPr/>
        </p:nvSpPr>
        <p:spPr>
          <a:xfrm>
            <a:off x="1907628" y="4658710"/>
            <a:ext cx="539010" cy="226328"/>
          </a:xfrm>
          <a:prstGeom prst="rect">
            <a:avLst/>
          </a:prstGeom>
          <a:solidFill>
            <a:srgbClr val="1F77B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16-jan</a:t>
            </a:r>
            <a:endParaRPr lang="en-IN" sz="900" dirty="0">
              <a:solidFill>
                <a:schemeClr val="tx1"/>
              </a:solidFill>
            </a:endParaRPr>
          </a:p>
        </p:txBody>
      </p:sp>
    </p:spTree>
    <p:extLst>
      <p:ext uri="{BB962C8B-B14F-4D97-AF65-F5344CB8AC3E}">
        <p14:creationId xmlns:p14="http://schemas.microsoft.com/office/powerpoint/2010/main" val="4798902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2" name="Text Placeholder 1">
            <a:extLst>
              <a:ext uri="{FF2B5EF4-FFF2-40B4-BE49-F238E27FC236}">
                <a16:creationId xmlns:a16="http://schemas.microsoft.com/office/drawing/2014/main" id="{EA9D80CB-4D13-81C0-19F2-C6E5FF7F1F6A}"/>
              </a:ext>
            </a:extLst>
          </p:cNvPr>
          <p:cNvSpPr>
            <a:spLocks noGrp="1" noChangeArrowheads="1"/>
          </p:cNvSpPr>
          <p:nvPr>
            <p:ph type="body" idx="1"/>
          </p:nvPr>
        </p:nvSpPr>
        <p:spPr bwMode="auto">
          <a:xfrm>
            <a:off x="812800" y="1222177"/>
            <a:ext cx="10668000"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A. Patel and R. Shah, “Design and Development of a Mobile-Based Attendance System,” </a:t>
            </a:r>
            <a:r>
              <a:rPr kumimoji="0" lang="en-US" altLang="en-US" b="0" i="1" u="none" strike="noStrike" cap="none" normalizeH="0" baseline="0" dirty="0">
                <a:ln>
                  <a:noFill/>
                </a:ln>
                <a:solidFill>
                  <a:schemeClr val="tx1"/>
                </a:solidFill>
                <a:effectLst/>
                <a:latin typeface="Cambria" panose="02040503050406030204" pitchFamily="18" charset="0"/>
                <a:ea typeface="Cambria" panose="02040503050406030204" pitchFamily="18" charset="0"/>
              </a:rPr>
              <a:t>International Journal of Computer Applications</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vol. 174, no. 15, pp. 12–17, 2021.</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S. Kumar and P. Verma, “A Study on Student Time Management Using Smart Applications,” </a:t>
            </a:r>
            <a:r>
              <a:rPr kumimoji="0" lang="en-US" altLang="en-US" b="0" i="1" u="none" strike="noStrike" cap="none" normalizeH="0" baseline="0" dirty="0">
                <a:ln>
                  <a:noFill/>
                </a:ln>
                <a:solidFill>
                  <a:schemeClr val="tx1"/>
                </a:solidFill>
                <a:effectLst/>
                <a:latin typeface="Cambria" panose="02040503050406030204" pitchFamily="18" charset="0"/>
                <a:ea typeface="Cambria" panose="02040503050406030204" pitchFamily="18" charset="0"/>
              </a:rPr>
              <a:t>Journal of Emerging Technologies and Innovative Research</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vol. 7, no. 6, pp. 245–250, 2020.</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J. Li, Y. L. Theng, and S. Foo, “Effect of Mobile Applications on Learning and Productivity,” </a:t>
            </a:r>
            <a:r>
              <a:rPr kumimoji="0" lang="en-US" altLang="en-US" b="0" i="1" u="none" strike="noStrike" cap="none" normalizeH="0" baseline="0" dirty="0">
                <a:ln>
                  <a:noFill/>
                </a:ln>
                <a:solidFill>
                  <a:schemeClr val="tx1"/>
                </a:solidFill>
                <a:effectLst/>
                <a:latin typeface="Cambria" panose="02040503050406030204" pitchFamily="18" charset="0"/>
                <a:ea typeface="Cambria" panose="02040503050406030204" pitchFamily="18" charset="0"/>
              </a:rPr>
              <a:t>Journal of Medical Internet Research</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vol. 18, no. 8, e226, 2016.</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Ministry of Education, Government of India, </a:t>
            </a:r>
            <a:r>
              <a:rPr kumimoji="0" lang="en-US" altLang="en-US" b="0" i="1" u="none" strike="noStrike" cap="none" normalizeH="0" baseline="0" dirty="0">
                <a:ln>
                  <a:noFill/>
                </a:ln>
                <a:solidFill>
                  <a:schemeClr val="tx1"/>
                </a:solidFill>
                <a:effectLst/>
                <a:latin typeface="Cambria" panose="02040503050406030204" pitchFamily="18" charset="0"/>
                <a:ea typeface="Cambria" panose="02040503050406030204" pitchFamily="18" charset="0"/>
              </a:rPr>
              <a:t>National Education Policy 2020</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New Delhi, India.</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4127</TotalTime>
  <Words>663</Words>
  <Application>Microsoft Office PowerPoint</Application>
  <PresentationFormat>Widescreen</PresentationFormat>
  <Paragraphs>66</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Cambria</vt:lpstr>
      <vt:lpstr>Verdana</vt:lpstr>
      <vt:lpstr>Bioinformatics</vt:lpstr>
      <vt:lpstr>Smart Curriculum Activity &amp; Attendance App</vt:lpstr>
      <vt:lpstr>Content</vt:lpstr>
      <vt:lpstr>Problem Statement</vt:lpstr>
      <vt:lpstr>Objectives</vt:lpstr>
      <vt:lpstr>Background and Related work for title Selection</vt:lpstr>
      <vt:lpstr>Innovation or Novel Contributions</vt:lpstr>
      <vt:lpstr>Github Link</vt:lpstr>
      <vt:lpstr>Timeline of the Project (Gantt Chart)</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Sharanegouda MP</cp:lastModifiedBy>
  <cp:revision>162</cp:revision>
  <dcterms:modified xsi:type="dcterms:W3CDTF">2026-01-16T03:46:35Z</dcterms:modified>
</cp:coreProperties>
</file>